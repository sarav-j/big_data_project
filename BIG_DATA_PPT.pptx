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4" r:id="rId9"/>
    <p:sldId id="265" r:id="rId10"/>
    <p:sldId id="266" r:id="rId11"/>
    <p:sldId id="261"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4D89A3B-B510-4C0C-8568-38C19675471F}" type="datetimeFigureOut">
              <a:rPr lang="en-IN" smtClean="0"/>
              <a:t>30-10-2025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7A1F216-14A5-4552-B632-0EC828585928}" type="slidenum">
              <a:rPr lang="en-IN" smtClean="0"/>
              <a:t>‹#›</a:t>
            </a:fld>
            <a:endParaRPr lang="en-IN"/>
          </a:p>
        </p:txBody>
      </p:sp>
    </p:spTree>
    <p:extLst>
      <p:ext uri="{BB962C8B-B14F-4D97-AF65-F5344CB8AC3E}">
        <p14:creationId xmlns:p14="http://schemas.microsoft.com/office/powerpoint/2010/main" val="4139310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A1F216-14A5-4552-B632-0EC828585928}" type="slidenum">
              <a:rPr lang="en-IN" smtClean="0"/>
              <a:t>1</a:t>
            </a:fld>
            <a:endParaRPr lang="en-IN"/>
          </a:p>
        </p:txBody>
      </p:sp>
    </p:spTree>
    <p:extLst>
      <p:ext uri="{BB962C8B-B14F-4D97-AF65-F5344CB8AC3E}">
        <p14:creationId xmlns:p14="http://schemas.microsoft.com/office/powerpoint/2010/main" val="3644736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A1F216-14A5-4552-B632-0EC828585928}" type="slidenum">
              <a:rPr lang="en-IN" smtClean="0"/>
              <a:t>5</a:t>
            </a:fld>
            <a:endParaRPr lang="en-IN"/>
          </a:p>
        </p:txBody>
      </p:sp>
    </p:spTree>
    <p:extLst>
      <p:ext uri="{BB962C8B-B14F-4D97-AF65-F5344CB8AC3E}">
        <p14:creationId xmlns:p14="http://schemas.microsoft.com/office/powerpoint/2010/main" val="3246632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FF0000"/>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001F5F"/>
                </a:solidFill>
                <a:latin typeface="Verdana"/>
                <a:cs typeface="Verdana"/>
              </a:defRPr>
            </a:lvl1p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endParaRPr spc="-10" dirty="0"/>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001F5F"/>
                </a:solidFill>
                <a:latin typeface="Verdana"/>
                <a:cs typeface="Verdana"/>
              </a:defRPr>
            </a:lvl1p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endParaRPr spc="-10" dirty="0"/>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001F5F"/>
                </a:solidFill>
                <a:latin typeface="Verdana"/>
                <a:cs typeface="Verdana"/>
              </a:defRPr>
            </a:lvl1p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endParaRPr spc="-10" dirty="0"/>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001F5F"/>
                </a:solidFill>
                <a:latin typeface="Verdana"/>
                <a:cs typeface="Verdana"/>
              </a:defRPr>
            </a:lvl1p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endParaRPr spc="-10" dirty="0"/>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001F5F"/>
                </a:solidFill>
                <a:latin typeface="Verdana"/>
                <a:cs typeface="Verdana"/>
              </a:defRPr>
            </a:lvl1p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a:lnSpc>
                <a:spcPct val="100000"/>
              </a:lnSpc>
              <a:spcBef>
                <a:spcPts val="105"/>
              </a:spcBef>
            </a:pPr>
            <a:endParaRPr spc="-10" dirty="0"/>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sp>
        <p:nvSpPr>
          <p:cNvPr id="17" name="bg object 17"/>
          <p:cNvSpPr/>
          <p:nvPr/>
        </p:nvSpPr>
        <p:spPr>
          <a:xfrm>
            <a:off x="814387" y="1576450"/>
            <a:ext cx="6207760" cy="104775"/>
          </a:xfrm>
          <a:custGeom>
            <a:avLst/>
            <a:gdLst/>
            <a:ahLst/>
            <a:cxnLst/>
            <a:rect l="l" t="t" r="r" b="b"/>
            <a:pathLst>
              <a:path w="6207759" h="104775">
                <a:moveTo>
                  <a:pt x="6207379" y="0"/>
                </a:moveTo>
                <a:lnTo>
                  <a:pt x="0" y="0"/>
                </a:lnTo>
                <a:lnTo>
                  <a:pt x="0" y="104775"/>
                </a:lnTo>
                <a:lnTo>
                  <a:pt x="6207379" y="104775"/>
                </a:lnTo>
                <a:lnTo>
                  <a:pt x="6207379" y="0"/>
                </a:lnTo>
                <a:close/>
              </a:path>
            </a:pathLst>
          </a:custGeom>
          <a:solidFill>
            <a:srgbClr val="CC0000"/>
          </a:solidFill>
        </p:spPr>
        <p:txBody>
          <a:bodyPr wrap="square" lIns="0" tIns="0" rIns="0" bIns="0" rtlCol="0"/>
          <a:lstStyle/>
          <a:p>
            <a:endParaRPr/>
          </a:p>
        </p:txBody>
      </p:sp>
      <p:sp>
        <p:nvSpPr>
          <p:cNvPr id="18" name="bg object 18"/>
          <p:cNvSpPr/>
          <p:nvPr/>
        </p:nvSpPr>
        <p:spPr>
          <a:xfrm>
            <a:off x="814387" y="1576450"/>
            <a:ext cx="10611485" cy="0"/>
          </a:xfrm>
          <a:custGeom>
            <a:avLst/>
            <a:gdLst/>
            <a:ahLst/>
            <a:cxnLst/>
            <a:rect l="l" t="t" r="r" b="b"/>
            <a:pathLst>
              <a:path w="10611485">
                <a:moveTo>
                  <a:pt x="0" y="0"/>
                </a:moveTo>
                <a:lnTo>
                  <a:pt x="10610913" y="0"/>
                </a:lnTo>
              </a:path>
            </a:pathLst>
          </a:custGeom>
          <a:ln w="9525">
            <a:solidFill>
              <a:srgbClr val="CC0000"/>
            </a:solidFill>
          </a:ln>
        </p:spPr>
        <p:txBody>
          <a:bodyPr wrap="square" lIns="0" tIns="0" rIns="0" bIns="0" rtlCol="0"/>
          <a:lstStyle/>
          <a:p>
            <a:endParaRPr/>
          </a:p>
        </p:txBody>
      </p:sp>
      <p:sp>
        <p:nvSpPr>
          <p:cNvPr id="19" name="bg object 19"/>
          <p:cNvSpPr/>
          <p:nvPr/>
        </p:nvSpPr>
        <p:spPr>
          <a:xfrm>
            <a:off x="814387" y="6176962"/>
            <a:ext cx="10573385" cy="0"/>
          </a:xfrm>
          <a:custGeom>
            <a:avLst/>
            <a:gdLst/>
            <a:ahLst/>
            <a:cxnLst/>
            <a:rect l="l" t="t" r="r" b="b"/>
            <a:pathLst>
              <a:path w="10573385">
                <a:moveTo>
                  <a:pt x="0" y="0"/>
                </a:moveTo>
                <a:lnTo>
                  <a:pt x="10572813" y="0"/>
                </a:lnTo>
              </a:path>
            </a:pathLst>
          </a:custGeom>
          <a:ln w="3175">
            <a:solidFill>
              <a:srgbClr val="CC0000"/>
            </a:solidFill>
          </a:ln>
        </p:spPr>
        <p:txBody>
          <a:bodyPr wrap="square" lIns="0" tIns="0" rIns="0" bIns="0" rtlCol="0"/>
          <a:lstStyle/>
          <a:p>
            <a:endParaRPr/>
          </a:p>
        </p:txBody>
      </p:sp>
      <p:sp>
        <p:nvSpPr>
          <p:cNvPr id="2" name="Holder 2"/>
          <p:cNvSpPr>
            <a:spLocks noGrp="1"/>
          </p:cNvSpPr>
          <p:nvPr>
            <p:ph type="title"/>
          </p:nvPr>
        </p:nvSpPr>
        <p:spPr>
          <a:xfrm>
            <a:off x="845502" y="966469"/>
            <a:ext cx="8000365" cy="518159"/>
          </a:xfrm>
          <a:prstGeom prst="rect">
            <a:avLst/>
          </a:prstGeom>
        </p:spPr>
        <p:txBody>
          <a:bodyPr wrap="square" lIns="0" tIns="0" rIns="0" bIns="0">
            <a:spAutoFit/>
          </a:bodyPr>
          <a:lstStyle>
            <a:lvl1pPr>
              <a:defRPr sz="3200" b="1" i="0">
                <a:solidFill>
                  <a:srgbClr val="FF0000"/>
                </a:solidFill>
                <a:latin typeface="Verdana"/>
                <a:cs typeface="Verdana"/>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343653" y="6285997"/>
            <a:ext cx="3522979" cy="392429"/>
          </a:xfrm>
          <a:prstGeom prst="rect">
            <a:avLst/>
          </a:prstGeom>
        </p:spPr>
        <p:txBody>
          <a:bodyPr wrap="square" lIns="0" tIns="0" rIns="0" bIns="0">
            <a:spAutoFit/>
          </a:bodyPr>
          <a:lstStyle>
            <a:lvl1pPr>
              <a:defRPr sz="1200" b="0" i="0">
                <a:solidFill>
                  <a:srgbClr val="001F5F"/>
                </a:solidFill>
                <a:latin typeface="Verdana"/>
                <a:cs typeface="Verdana"/>
              </a:defRPr>
            </a:lvl1p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5" name="Holder 5"/>
          <p:cNvSpPr>
            <a:spLocks noGrp="1"/>
          </p:cNvSpPr>
          <p:nvPr>
            <p:ph type="dt" sz="half" idx="6"/>
          </p:nvPr>
        </p:nvSpPr>
        <p:spPr>
          <a:xfrm>
            <a:off x="892175" y="6285997"/>
            <a:ext cx="1121410" cy="211454"/>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a:lnSpc>
                <a:spcPct val="100000"/>
              </a:lnSpc>
              <a:spcBef>
                <a:spcPts val="105"/>
              </a:spcBef>
            </a:pPr>
            <a:endParaRPr spc="-10" dirty="0"/>
          </a:p>
        </p:txBody>
      </p:sp>
      <p:sp>
        <p:nvSpPr>
          <p:cNvPr id="6" name="Holder 6"/>
          <p:cNvSpPr>
            <a:spLocks noGrp="1"/>
          </p:cNvSpPr>
          <p:nvPr>
            <p:ph type="sldNum" sz="quarter" idx="7"/>
          </p:nvPr>
        </p:nvSpPr>
        <p:spPr>
          <a:xfrm>
            <a:off x="11160125" y="6285997"/>
            <a:ext cx="186054" cy="211454"/>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38100">
              <a:lnSpc>
                <a:spcPct val="100000"/>
              </a:lnSpc>
              <a:spcBef>
                <a:spcPts val="10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2192000" cy="6858000"/>
          </a:xfrm>
          <a:prstGeom prst="rect">
            <a:avLst/>
          </a:prstGeom>
        </p:spPr>
      </p:pic>
      <p:grpSp>
        <p:nvGrpSpPr>
          <p:cNvPr id="3" name="object 3"/>
          <p:cNvGrpSpPr/>
          <p:nvPr/>
        </p:nvGrpSpPr>
        <p:grpSpPr>
          <a:xfrm>
            <a:off x="919162" y="2390838"/>
            <a:ext cx="10363835" cy="119380"/>
            <a:chOff x="919162" y="2390838"/>
            <a:chExt cx="10363835" cy="119380"/>
          </a:xfrm>
        </p:grpSpPr>
        <p:sp>
          <p:nvSpPr>
            <p:cNvPr id="4" name="object 4"/>
            <p:cNvSpPr/>
            <p:nvPr/>
          </p:nvSpPr>
          <p:spPr>
            <a:xfrm>
              <a:off x="919162" y="2395601"/>
              <a:ext cx="6404610" cy="114300"/>
            </a:xfrm>
            <a:custGeom>
              <a:avLst/>
              <a:gdLst/>
              <a:ahLst/>
              <a:cxnLst/>
              <a:rect l="l" t="t" r="r" b="b"/>
              <a:pathLst>
                <a:path w="6404609" h="114300">
                  <a:moveTo>
                    <a:pt x="6404483" y="0"/>
                  </a:moveTo>
                  <a:lnTo>
                    <a:pt x="0" y="0"/>
                  </a:lnTo>
                  <a:lnTo>
                    <a:pt x="0" y="114300"/>
                  </a:lnTo>
                  <a:lnTo>
                    <a:pt x="6404483" y="114300"/>
                  </a:lnTo>
                  <a:lnTo>
                    <a:pt x="6404483" y="0"/>
                  </a:lnTo>
                  <a:close/>
                </a:path>
              </a:pathLst>
            </a:custGeom>
            <a:solidFill>
              <a:srgbClr val="CC0000"/>
            </a:solidFill>
          </p:spPr>
          <p:txBody>
            <a:bodyPr wrap="square" lIns="0" tIns="0" rIns="0" bIns="0" rtlCol="0"/>
            <a:lstStyle/>
            <a:p>
              <a:endParaRPr/>
            </a:p>
          </p:txBody>
        </p:sp>
        <p:sp>
          <p:nvSpPr>
            <p:cNvPr id="5" name="object 5"/>
            <p:cNvSpPr/>
            <p:nvPr/>
          </p:nvSpPr>
          <p:spPr>
            <a:xfrm>
              <a:off x="919162" y="2395601"/>
              <a:ext cx="10363835" cy="0"/>
            </a:xfrm>
            <a:custGeom>
              <a:avLst/>
              <a:gdLst/>
              <a:ahLst/>
              <a:cxnLst/>
              <a:rect l="l" t="t" r="r" b="b"/>
              <a:pathLst>
                <a:path w="10363835">
                  <a:moveTo>
                    <a:pt x="0" y="0"/>
                  </a:moveTo>
                  <a:lnTo>
                    <a:pt x="10363263" y="0"/>
                  </a:lnTo>
                </a:path>
              </a:pathLst>
            </a:custGeom>
            <a:ln w="9525">
              <a:solidFill>
                <a:srgbClr val="CC0000"/>
              </a:solidFill>
            </a:ln>
          </p:spPr>
          <p:txBody>
            <a:bodyPr wrap="square" lIns="0" tIns="0" rIns="0" bIns="0" rtlCol="0"/>
            <a:lstStyle/>
            <a:p>
              <a:endParaRPr/>
            </a:p>
          </p:txBody>
        </p:sp>
      </p:grpSp>
      <p:sp>
        <p:nvSpPr>
          <p:cNvPr id="6" name="object 6"/>
          <p:cNvSpPr txBox="1"/>
          <p:nvPr/>
        </p:nvSpPr>
        <p:spPr>
          <a:xfrm>
            <a:off x="228600" y="2853436"/>
            <a:ext cx="11811000" cy="509114"/>
          </a:xfrm>
          <a:prstGeom prst="rect">
            <a:avLst/>
          </a:prstGeom>
        </p:spPr>
        <p:txBody>
          <a:bodyPr vert="horz" wrap="square" lIns="0" tIns="16510" rIns="0" bIns="0" rtlCol="0">
            <a:spAutoFit/>
          </a:bodyPr>
          <a:lstStyle/>
          <a:p>
            <a:pPr marL="12700">
              <a:lnSpc>
                <a:spcPct val="100000"/>
              </a:lnSpc>
              <a:spcBef>
                <a:spcPts val="130"/>
              </a:spcBef>
            </a:pPr>
            <a:r>
              <a:rPr lang="en-US" sz="3200" dirty="0">
                <a:solidFill>
                  <a:srgbClr val="FF0000"/>
                </a:solidFill>
                <a:latin typeface="Times New Roman" panose="02020603050405020304" pitchFamily="18" charset="0"/>
                <a:cs typeface="Times New Roman" panose="02020603050405020304" pitchFamily="18" charset="0"/>
              </a:rPr>
              <a:t>                    Smart city analysis using </a:t>
            </a:r>
            <a:r>
              <a:rPr lang="en-IN" sz="3200" dirty="0">
                <a:solidFill>
                  <a:srgbClr val="FF0000"/>
                </a:solidFill>
                <a:latin typeface="Times New Roman" panose="02020603050405020304" pitchFamily="18" charset="0"/>
                <a:cs typeface="Times New Roman" panose="02020603050405020304" pitchFamily="18" charset="0"/>
              </a:rPr>
              <a:t>pollution data</a:t>
            </a:r>
            <a:endParaRPr sz="2800" b="1" dirty="0">
              <a:solidFill>
                <a:srgbClr val="FF0000"/>
              </a:solidFill>
              <a:latin typeface="Verdana" panose="020B0604030504040204" pitchFamily="34" charset="0"/>
              <a:ea typeface="Verdana" panose="020B0604030504040204" pitchFamily="34" charset="0"/>
              <a:cs typeface="Verdana"/>
            </a:endParaRPr>
          </a:p>
        </p:txBody>
      </p:sp>
      <p:sp>
        <p:nvSpPr>
          <p:cNvPr id="7" name="object 7"/>
          <p:cNvSpPr txBox="1"/>
          <p:nvPr/>
        </p:nvSpPr>
        <p:spPr>
          <a:xfrm>
            <a:off x="1042352" y="5223890"/>
            <a:ext cx="3231515" cy="356188"/>
          </a:xfrm>
          <a:prstGeom prst="rect">
            <a:avLst/>
          </a:prstGeom>
        </p:spPr>
        <p:txBody>
          <a:bodyPr vert="horz" wrap="square" lIns="0" tIns="13335" rIns="0" bIns="0" rtlCol="0">
            <a:spAutoFit/>
          </a:bodyPr>
          <a:lstStyle/>
          <a:p>
            <a:pPr marL="12700">
              <a:lnSpc>
                <a:spcPts val="2865"/>
              </a:lnSpc>
              <a:spcBef>
                <a:spcPts val="105"/>
              </a:spcBef>
            </a:pPr>
            <a:r>
              <a:rPr lang="en-IN" sz="2400" b="1" dirty="0" err="1">
                <a:solidFill>
                  <a:srgbClr val="FF0000"/>
                </a:solidFill>
                <a:latin typeface="Verdana"/>
                <a:cs typeface="Verdana"/>
              </a:rPr>
              <a:t>Dr.Suresh</a:t>
            </a:r>
            <a:r>
              <a:rPr lang="en-IN" sz="2400" b="1" dirty="0">
                <a:solidFill>
                  <a:srgbClr val="FF0000"/>
                </a:solidFill>
                <a:latin typeface="Verdana"/>
                <a:cs typeface="Verdana"/>
              </a:rPr>
              <a:t> Kumar</a:t>
            </a:r>
            <a:endParaRPr sz="2400" dirty="0">
              <a:latin typeface="Verdana"/>
              <a:cs typeface="Verdana"/>
            </a:endParaRPr>
          </a:p>
        </p:txBody>
      </p:sp>
      <p:sp>
        <p:nvSpPr>
          <p:cNvPr id="8" name="object 8"/>
          <p:cNvSpPr txBox="1"/>
          <p:nvPr/>
        </p:nvSpPr>
        <p:spPr>
          <a:xfrm>
            <a:off x="7010400" y="4475127"/>
            <a:ext cx="4497069" cy="1125629"/>
          </a:xfrm>
          <a:prstGeom prst="rect">
            <a:avLst/>
          </a:prstGeom>
        </p:spPr>
        <p:txBody>
          <a:bodyPr vert="horz" wrap="square" lIns="0" tIns="13335" rIns="0" bIns="0" rtlCol="0">
            <a:spAutoFit/>
          </a:bodyPr>
          <a:lstStyle/>
          <a:p>
            <a:pPr marL="12700">
              <a:lnSpc>
                <a:spcPts val="2865"/>
              </a:lnSpc>
              <a:spcBef>
                <a:spcPts val="105"/>
              </a:spcBef>
            </a:pPr>
            <a:r>
              <a:rPr lang="en-IN" sz="2400" b="1" dirty="0">
                <a:solidFill>
                  <a:srgbClr val="FF0000"/>
                </a:solidFill>
                <a:latin typeface="Verdana"/>
                <a:cs typeface="Verdana"/>
              </a:rPr>
              <a:t>Presented By:</a:t>
            </a:r>
          </a:p>
          <a:p>
            <a:pPr marL="12700">
              <a:lnSpc>
                <a:spcPts val="2865"/>
              </a:lnSpc>
              <a:spcBef>
                <a:spcPts val="105"/>
              </a:spcBef>
            </a:pPr>
            <a:r>
              <a:rPr lang="en-IN" sz="2400" dirty="0">
                <a:solidFill>
                  <a:schemeClr val="tx2"/>
                </a:solidFill>
                <a:latin typeface="Verdana"/>
                <a:cs typeface="Verdana"/>
              </a:rPr>
              <a:t>Saravanan J (231801158)</a:t>
            </a:r>
          </a:p>
          <a:p>
            <a:pPr marL="12700">
              <a:lnSpc>
                <a:spcPts val="2865"/>
              </a:lnSpc>
              <a:spcBef>
                <a:spcPts val="105"/>
              </a:spcBef>
            </a:pPr>
            <a:r>
              <a:rPr lang="en-IN" sz="2400" dirty="0">
                <a:solidFill>
                  <a:schemeClr val="tx2"/>
                </a:solidFill>
                <a:latin typeface="Verdana"/>
                <a:cs typeface="Verdana"/>
              </a:rPr>
              <a:t>Thavatharani  (231801180)</a:t>
            </a:r>
            <a:endParaRPr sz="2400" dirty="0">
              <a:solidFill>
                <a:schemeClr val="tx2"/>
              </a:solidFill>
              <a:latin typeface="Verdana"/>
              <a:cs typeface="Verdana"/>
            </a:endParaRPr>
          </a:p>
        </p:txBody>
      </p:sp>
      <p:sp>
        <p:nvSpPr>
          <p:cNvPr id="9" name="object 9"/>
          <p:cNvSpPr txBox="1">
            <a:spLocks noGrp="1"/>
          </p:cNvSpPr>
          <p:nvPr>
            <p:ph type="title"/>
          </p:nvPr>
        </p:nvSpPr>
        <p:spPr>
          <a:xfrm>
            <a:off x="1371346" y="1141412"/>
            <a:ext cx="9187180" cy="830580"/>
          </a:xfrm>
          <a:prstGeom prst="rect">
            <a:avLst/>
          </a:prstGeom>
        </p:spPr>
        <p:txBody>
          <a:bodyPr vert="horz" wrap="square" lIns="0" tIns="60325" rIns="0" bIns="0" rtlCol="0">
            <a:spAutoFit/>
          </a:bodyPr>
          <a:lstStyle/>
          <a:p>
            <a:pPr marL="3838575" marR="5080" indent="-3826510">
              <a:lnSpc>
                <a:spcPts val="3000"/>
              </a:lnSpc>
              <a:spcBef>
                <a:spcPts val="475"/>
              </a:spcBef>
            </a:pPr>
            <a:r>
              <a:rPr sz="2750" dirty="0">
                <a:solidFill>
                  <a:srgbClr val="001F5F"/>
                </a:solidFill>
              </a:rPr>
              <a:t>Department</a:t>
            </a:r>
            <a:r>
              <a:rPr sz="2750" spc="110" dirty="0">
                <a:solidFill>
                  <a:srgbClr val="001F5F"/>
                </a:solidFill>
              </a:rPr>
              <a:t> </a:t>
            </a:r>
            <a:r>
              <a:rPr sz="2750" dirty="0">
                <a:solidFill>
                  <a:srgbClr val="001F5F"/>
                </a:solidFill>
              </a:rPr>
              <a:t>of</a:t>
            </a:r>
            <a:r>
              <a:rPr sz="2750" spc="245" dirty="0">
                <a:solidFill>
                  <a:srgbClr val="001F5F"/>
                </a:solidFill>
              </a:rPr>
              <a:t> </a:t>
            </a:r>
            <a:r>
              <a:rPr sz="2750" dirty="0">
                <a:solidFill>
                  <a:srgbClr val="001F5F"/>
                </a:solidFill>
              </a:rPr>
              <a:t>Artificial</a:t>
            </a:r>
            <a:r>
              <a:rPr sz="2750" spc="215" dirty="0">
                <a:solidFill>
                  <a:srgbClr val="001F5F"/>
                </a:solidFill>
              </a:rPr>
              <a:t> </a:t>
            </a:r>
            <a:r>
              <a:rPr sz="2750" dirty="0">
                <a:solidFill>
                  <a:srgbClr val="001F5F"/>
                </a:solidFill>
              </a:rPr>
              <a:t>Intelligence</a:t>
            </a:r>
            <a:r>
              <a:rPr sz="2750" spc="135" dirty="0">
                <a:solidFill>
                  <a:srgbClr val="001F5F"/>
                </a:solidFill>
              </a:rPr>
              <a:t> </a:t>
            </a:r>
            <a:r>
              <a:rPr sz="2750" dirty="0">
                <a:solidFill>
                  <a:srgbClr val="001F5F"/>
                </a:solidFill>
              </a:rPr>
              <a:t>and</a:t>
            </a:r>
            <a:r>
              <a:rPr sz="2750" spc="190" dirty="0">
                <a:solidFill>
                  <a:srgbClr val="001F5F"/>
                </a:solidFill>
              </a:rPr>
              <a:t> </a:t>
            </a:r>
            <a:r>
              <a:rPr sz="2750" spc="-20" dirty="0">
                <a:solidFill>
                  <a:srgbClr val="001F5F"/>
                </a:solidFill>
              </a:rPr>
              <a:t>Data </a:t>
            </a:r>
            <a:r>
              <a:rPr sz="2750" spc="-10" dirty="0">
                <a:solidFill>
                  <a:srgbClr val="001F5F"/>
                </a:solidFill>
              </a:rPr>
              <a:t>Science</a:t>
            </a:r>
            <a:endParaRPr sz="2750"/>
          </a:p>
        </p:txBody>
      </p:sp>
      <p:pic>
        <p:nvPicPr>
          <p:cNvPr id="10" name="object 10"/>
          <p:cNvPicPr/>
          <p:nvPr/>
        </p:nvPicPr>
        <p:blipFill>
          <a:blip r:embed="rId4" cstate="print"/>
          <a:stretch>
            <a:fillRect/>
          </a:stretch>
        </p:blipFill>
        <p:spPr>
          <a:xfrm>
            <a:off x="152400" y="152400"/>
            <a:ext cx="2771775" cy="1047750"/>
          </a:xfrm>
          <a:prstGeom prst="rect">
            <a:avLst/>
          </a:prstGeom>
        </p:spPr>
      </p:pic>
      <p:sp>
        <p:nvSpPr>
          <p:cNvPr id="12" name="Footer Placeholder 11">
            <a:extLst>
              <a:ext uri="{FF2B5EF4-FFF2-40B4-BE49-F238E27FC236}">
                <a16:creationId xmlns:a16="http://schemas.microsoft.com/office/drawing/2014/main" id="{56BF56F7-F3BD-F5C1-380C-B0A196CCABEA}"/>
              </a:ext>
            </a:extLst>
          </p:cNvPr>
          <p:cNvSpPr>
            <a:spLocks noGrp="1"/>
          </p:cNvSpPr>
          <p:nvPr>
            <p:ph type="ftr" sz="quarter" idx="5"/>
          </p:nvPr>
        </p:nvSpPr>
        <p:spPr/>
        <p:txBody>
          <a:bodyPr/>
          <a:lstStyle/>
          <a:p>
            <a:pPr marL="1464945" marR="5080" indent="-1452880">
              <a:lnSpc>
                <a:spcPts val="1430"/>
              </a:lnSpc>
              <a:spcBef>
                <a:spcPts val="165"/>
              </a:spcBef>
            </a:pPr>
            <a:r>
              <a:rPr lang="en-US" dirty="0">
                <a:solidFill>
                  <a:srgbClr val="000000"/>
                </a:solidFill>
              </a:rPr>
              <a:t>Department</a:t>
            </a:r>
            <a:r>
              <a:rPr lang="en-US" spc="-20" dirty="0">
                <a:solidFill>
                  <a:srgbClr val="000000"/>
                </a:solidFill>
              </a:rPr>
              <a:t> </a:t>
            </a:r>
            <a:r>
              <a:rPr lang="en-US" dirty="0">
                <a:solidFill>
                  <a:srgbClr val="000000"/>
                </a:solidFill>
              </a:rPr>
              <a:t>of</a:t>
            </a:r>
            <a:r>
              <a:rPr lang="en-US" spc="-40" dirty="0">
                <a:solidFill>
                  <a:srgbClr val="000000"/>
                </a:solidFill>
              </a:rPr>
              <a:t> </a:t>
            </a:r>
            <a:r>
              <a:rPr lang="en-US" dirty="0"/>
              <a:t>Artificial</a:t>
            </a:r>
            <a:r>
              <a:rPr lang="en-US" spc="-25" dirty="0"/>
              <a:t> </a:t>
            </a:r>
            <a:r>
              <a:rPr lang="en-US" dirty="0"/>
              <a:t>Intelligence</a:t>
            </a:r>
            <a:r>
              <a:rPr lang="en-US" spc="-30" dirty="0"/>
              <a:t> </a:t>
            </a:r>
            <a:r>
              <a:rPr lang="en-US" dirty="0"/>
              <a:t>and</a:t>
            </a:r>
            <a:r>
              <a:rPr lang="en-US" spc="-65" dirty="0"/>
              <a:t> </a:t>
            </a:r>
            <a:r>
              <a:rPr lang="en-US" spc="-20" dirty="0"/>
              <a:t>Data </a:t>
            </a:r>
            <a:r>
              <a:rPr lang="en-US" spc="-10" dirty="0"/>
              <a:t>Science</a:t>
            </a:r>
          </a:p>
        </p:txBody>
      </p:sp>
      <p:sp>
        <p:nvSpPr>
          <p:cNvPr id="13" name="Slide Number Placeholder 12">
            <a:extLst>
              <a:ext uri="{FF2B5EF4-FFF2-40B4-BE49-F238E27FC236}">
                <a16:creationId xmlns:a16="http://schemas.microsoft.com/office/drawing/2014/main" id="{CA576F8B-DBAC-A3C3-11FB-63225B0BE57C}"/>
              </a:ext>
            </a:extLst>
          </p:cNvPr>
          <p:cNvSpPr>
            <a:spLocks noGrp="1"/>
          </p:cNvSpPr>
          <p:nvPr>
            <p:ph type="sldNum" sz="quarter" idx="7"/>
          </p:nvPr>
        </p:nvSpPr>
        <p:spPr/>
        <p:txBody>
          <a:bodyPr/>
          <a:lstStyle/>
          <a:p>
            <a:pPr marL="38100">
              <a:lnSpc>
                <a:spcPct val="100000"/>
              </a:lnSpc>
              <a:spcBef>
                <a:spcPts val="105"/>
              </a:spcBef>
            </a:pPr>
            <a:fld id="{81D60167-4931-47E6-BA6A-407CBD079E47}" type="slidenum">
              <a:rPr lang="en-IN" spc="-50" smtClean="0"/>
              <a:t>1</a:t>
            </a:fld>
            <a:endParaRPr lang="en-IN"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5502" y="966469"/>
            <a:ext cx="8000365" cy="509114"/>
          </a:xfrm>
          <a:prstGeom prst="rect">
            <a:avLst/>
          </a:prstGeom>
        </p:spPr>
        <p:txBody>
          <a:bodyPr vert="horz" wrap="square" lIns="0" tIns="16510" rIns="0" bIns="0" rtlCol="0">
            <a:spAutoFit/>
          </a:bodyPr>
          <a:lstStyle/>
          <a:p>
            <a:pPr marL="12700">
              <a:lnSpc>
                <a:spcPct val="100000"/>
              </a:lnSpc>
              <a:spcBef>
                <a:spcPts val="130"/>
              </a:spcBef>
            </a:pPr>
            <a:r>
              <a:rPr lang="en-IN" spc="-10" dirty="0"/>
              <a:t>Introduction</a:t>
            </a:r>
            <a:endParaRPr spc="-10" dirty="0"/>
          </a:p>
        </p:txBody>
      </p:sp>
      <p:sp>
        <p:nvSpPr>
          <p:cNvPr id="5" name="object 5"/>
          <p:cNvSpPr txBox="1">
            <a:spLocks noGrp="1"/>
          </p:cNvSpPr>
          <p:nvPr>
            <p:ph type="ftr" sz="quarter" idx="5"/>
          </p:nvPr>
        </p:nvSpPr>
        <p:spPr>
          <a:prstGeom prst="rect">
            <a:avLst/>
          </a:prstGeom>
        </p:spPr>
        <p:txBody>
          <a:bodyPr vert="horz" wrap="square" lIns="0" tIns="20955" rIns="0" bIns="0" rtlCol="0">
            <a:spAutoFit/>
          </a:body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6" name="object 6"/>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2</a:t>
            </a:fld>
            <a:endParaRPr spc="-50" dirty="0"/>
          </a:p>
        </p:txBody>
      </p:sp>
      <p:sp>
        <p:nvSpPr>
          <p:cNvPr id="9" name="Rectangle 4">
            <a:extLst>
              <a:ext uri="{FF2B5EF4-FFF2-40B4-BE49-F238E27FC236}">
                <a16:creationId xmlns:a16="http://schemas.microsoft.com/office/drawing/2014/main" id="{44BB6D61-68BB-317E-E75D-66829DC2AD35}"/>
              </a:ext>
            </a:extLst>
          </p:cNvPr>
          <p:cNvSpPr>
            <a:spLocks noChangeArrowheads="1"/>
          </p:cNvSpPr>
          <p:nvPr/>
        </p:nvSpPr>
        <p:spPr bwMode="auto">
          <a:xfrm rot="10800000" flipV="1">
            <a:off x="685800" y="1895012"/>
            <a:ext cx="9525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What is a Smart City?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 urban area that leverages technology, especially the Internet of Things (IoT) and data analytics, to improve the quality of life for its citizens.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b="1" dirty="0"/>
              <a:t>Problem Statement</a:t>
            </a:r>
          </a:p>
          <a:p>
            <a:r>
              <a:rPr lang="en-US" dirty="0"/>
              <a:t>Current air quality systems provide delayed and area-specific data.</a:t>
            </a:r>
          </a:p>
          <a:p>
            <a:r>
              <a:rPr lang="en-US" dirty="0"/>
              <a:t>There is no real-time, continuous, or predictive monitoring for effective pollution control.</a:t>
            </a:r>
          </a:p>
          <a:p>
            <a:r>
              <a:rPr lang="en-US" dirty="0"/>
              <a:t>Need for a low-cost, scalable, and intelligent system for real-time air pollution analysis.</a:t>
            </a:r>
          </a:p>
          <a:p>
            <a:endParaRPr lang="en-US" b="1" dirty="0"/>
          </a:p>
          <a:p>
            <a:r>
              <a:rPr lang="en-US" b="1" dirty="0"/>
              <a:t>Project Objectives</a:t>
            </a:r>
          </a:p>
          <a:p>
            <a:r>
              <a:rPr lang="en-US" dirty="0"/>
              <a:t>To develop an IoT-based system for real-time air quality monitoring.</a:t>
            </a:r>
          </a:p>
          <a:p>
            <a:r>
              <a:rPr lang="en-US" dirty="0"/>
              <a:t>To analyze and predict pollution levels using machine learning algorithms.</a:t>
            </a:r>
          </a:p>
          <a:p>
            <a:r>
              <a:rPr lang="en-US" dirty="0"/>
              <a:t>To visualize air quality data through an interactive dashboard for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lang="en-IN" spc="-10" dirty="0"/>
              <a:t>Abstract</a:t>
            </a:r>
            <a:endParaRPr spc="-10" dirty="0"/>
          </a:p>
        </p:txBody>
      </p:sp>
      <p:sp>
        <p:nvSpPr>
          <p:cNvPr id="5" name="object 5"/>
          <p:cNvSpPr txBox="1">
            <a:spLocks noGrp="1"/>
          </p:cNvSpPr>
          <p:nvPr>
            <p:ph type="ftr" sz="quarter" idx="5"/>
          </p:nvPr>
        </p:nvSpPr>
        <p:spPr>
          <a:prstGeom prst="rect">
            <a:avLst/>
          </a:prstGeom>
        </p:spPr>
        <p:txBody>
          <a:bodyPr vert="horz" wrap="square" lIns="0" tIns="20955" rIns="0" bIns="0" rtlCol="0">
            <a:spAutoFit/>
          </a:body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6" name="object 6"/>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3</a:t>
            </a:fld>
            <a:endParaRPr spc="-50" dirty="0"/>
          </a:p>
        </p:txBody>
      </p:sp>
      <p:sp>
        <p:nvSpPr>
          <p:cNvPr id="3" name="object 3"/>
          <p:cNvSpPr txBox="1"/>
          <p:nvPr/>
        </p:nvSpPr>
        <p:spPr>
          <a:xfrm>
            <a:off x="835025" y="1769427"/>
            <a:ext cx="2483485" cy="517525"/>
          </a:xfrm>
          <a:prstGeom prst="rect">
            <a:avLst/>
          </a:prstGeom>
        </p:spPr>
        <p:txBody>
          <a:bodyPr vert="horz" wrap="square" lIns="0" tIns="15875" rIns="0" bIns="0" rtlCol="0">
            <a:spAutoFit/>
          </a:bodyPr>
          <a:lstStyle/>
          <a:p>
            <a:pPr marL="12700">
              <a:lnSpc>
                <a:spcPct val="100000"/>
              </a:lnSpc>
              <a:spcBef>
                <a:spcPts val="125"/>
              </a:spcBef>
              <a:buClr>
                <a:srgbClr val="CC0000"/>
              </a:buClr>
              <a:tabLst>
                <a:tab pos="482600" algn="l"/>
              </a:tabLst>
            </a:pPr>
            <a:endParaRPr sz="3200" dirty="0">
              <a:latin typeface="Times New Roman"/>
              <a:cs typeface="Times New Roman"/>
            </a:endParaRPr>
          </a:p>
        </p:txBody>
      </p:sp>
      <p:sp>
        <p:nvSpPr>
          <p:cNvPr id="4" name="Rectangle 1">
            <a:extLst>
              <a:ext uri="{FF2B5EF4-FFF2-40B4-BE49-F238E27FC236}">
                <a16:creationId xmlns:a16="http://schemas.microsoft.com/office/drawing/2014/main" id="{48939334-F8CE-20C2-8D4F-3FBF0DBE46DC}"/>
              </a:ext>
            </a:extLst>
          </p:cNvPr>
          <p:cNvSpPr>
            <a:spLocks noChangeArrowheads="1"/>
          </p:cNvSpPr>
          <p:nvPr/>
        </p:nvSpPr>
        <p:spPr bwMode="auto">
          <a:xfrm rot="10800000" flipV="1">
            <a:off x="835024" y="2412156"/>
            <a:ext cx="801084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The </a:t>
            </a:r>
            <a:r>
              <a:rPr lang="en-US" b="1" dirty="0"/>
              <a:t>Smart City Sensor Analytics</a:t>
            </a:r>
            <a:r>
              <a:rPr lang="en-US" dirty="0"/>
              <a:t> project aims to monitor and predict air pollution using IoT sensors and data analytics.</a:t>
            </a:r>
          </a:p>
          <a:p>
            <a:r>
              <a:rPr lang="en-US" dirty="0"/>
              <a:t>Sensors collect data such as CO₂, NO₂, PM2.5, temperature, and humidity from multiple locations.</a:t>
            </a:r>
          </a:p>
          <a:p>
            <a:r>
              <a:rPr lang="en-US" dirty="0"/>
              <a:t>The data is processed and analyzed using machine learning models to detect pollution trends and anomalies.</a:t>
            </a:r>
          </a:p>
          <a:p>
            <a:r>
              <a:rPr lang="en-US" dirty="0"/>
              <a:t>A real-time dashboard visualizes air quality metrics, enabling data-driven decision-making for urban sustainability.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lang="en-IN" spc="-10" dirty="0"/>
              <a:t>Literature Survey</a:t>
            </a:r>
            <a:endParaRPr spc="-10" dirty="0"/>
          </a:p>
        </p:txBody>
      </p:sp>
      <p:sp>
        <p:nvSpPr>
          <p:cNvPr id="5" name="object 5"/>
          <p:cNvSpPr txBox="1">
            <a:spLocks noGrp="1"/>
          </p:cNvSpPr>
          <p:nvPr>
            <p:ph type="ftr" sz="quarter" idx="5"/>
          </p:nvPr>
        </p:nvSpPr>
        <p:spPr>
          <a:prstGeom prst="rect">
            <a:avLst/>
          </a:prstGeom>
        </p:spPr>
        <p:txBody>
          <a:bodyPr vert="horz" wrap="square" lIns="0" tIns="20955" rIns="0" bIns="0" rtlCol="0">
            <a:spAutoFit/>
          </a:body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6" name="object 6"/>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4</a:t>
            </a:fld>
            <a:endParaRPr spc="-50" dirty="0"/>
          </a:p>
        </p:txBody>
      </p:sp>
      <p:sp>
        <p:nvSpPr>
          <p:cNvPr id="3" name="object 3"/>
          <p:cNvSpPr txBox="1"/>
          <p:nvPr/>
        </p:nvSpPr>
        <p:spPr>
          <a:xfrm>
            <a:off x="835025" y="1769427"/>
            <a:ext cx="2483485" cy="517525"/>
          </a:xfrm>
          <a:prstGeom prst="rect">
            <a:avLst/>
          </a:prstGeom>
        </p:spPr>
        <p:txBody>
          <a:bodyPr vert="horz" wrap="square" lIns="0" tIns="15875" rIns="0" bIns="0" rtlCol="0">
            <a:spAutoFit/>
          </a:bodyPr>
          <a:lstStyle/>
          <a:p>
            <a:pPr marL="12700">
              <a:lnSpc>
                <a:spcPct val="100000"/>
              </a:lnSpc>
              <a:spcBef>
                <a:spcPts val="125"/>
              </a:spcBef>
              <a:buClr>
                <a:srgbClr val="CC0000"/>
              </a:buClr>
              <a:tabLst>
                <a:tab pos="482600" algn="l"/>
              </a:tabLst>
            </a:pPr>
            <a:endParaRPr sz="3200" dirty="0">
              <a:latin typeface="Times New Roman"/>
              <a:cs typeface="Times New Roman"/>
            </a:endParaRPr>
          </a:p>
        </p:txBody>
      </p:sp>
      <p:sp>
        <p:nvSpPr>
          <p:cNvPr id="8" name="TextBox 7">
            <a:extLst>
              <a:ext uri="{FF2B5EF4-FFF2-40B4-BE49-F238E27FC236}">
                <a16:creationId xmlns:a16="http://schemas.microsoft.com/office/drawing/2014/main" id="{EBE9AF38-C4C2-E144-1475-29CF8F9ADC04}"/>
              </a:ext>
            </a:extLst>
          </p:cNvPr>
          <p:cNvSpPr txBox="1"/>
          <p:nvPr/>
        </p:nvSpPr>
        <p:spPr>
          <a:xfrm>
            <a:off x="845502" y="5023408"/>
            <a:ext cx="10594975" cy="738664"/>
          </a:xfrm>
          <a:prstGeom prst="rect">
            <a:avLst/>
          </a:prstGeom>
          <a:noFill/>
        </p:spPr>
        <p:txBody>
          <a:bodyPr wrap="square">
            <a:spAutoFit/>
          </a:bodyPr>
          <a:lstStyle/>
          <a:p>
            <a:pPr lvl="1"/>
            <a:r>
              <a:rPr lang="en-US" b="1" dirty="0"/>
              <a:t>Our project aims to bridge these gaps</a:t>
            </a:r>
            <a:r>
              <a:rPr lang="en-US" dirty="0"/>
              <a:t> with a modular, cost-effective, and integrated approach.</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A46F493-FF4C-F402-154E-27241A6C2C96}"/>
              </a:ext>
            </a:extLst>
          </p:cNvPr>
          <p:cNvSpPr>
            <a:spLocks noChangeArrowheads="1"/>
          </p:cNvSpPr>
          <p:nvPr/>
        </p:nvSpPr>
        <p:spPr bwMode="auto">
          <a:xfrm>
            <a:off x="835025" y="2007523"/>
            <a:ext cx="86137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Existing Systems: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Rely mainly on static monitoring stations — limited coverage and slow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data collection and delayed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Lack of predictive analytics for future pollution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Limitations: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 setup cost for traditional air quality monitoring stations.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Low spatial resolution and lack of real-time public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Need for Proposed System: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enable </a:t>
            </a:r>
            <a:r>
              <a:rPr kumimoji="0" lang="en-US" altLang="en-US" sz="1800" b="1" i="0" u="none" strike="noStrike" cap="none" normalizeH="0" baseline="0" dirty="0">
                <a:ln>
                  <a:noFill/>
                </a:ln>
                <a:solidFill>
                  <a:schemeClr val="tx1"/>
                </a:solidFill>
                <a:effectLst/>
                <a:latin typeface="Arial" panose="020B0604020202020204" pitchFamily="34" charset="0"/>
              </a:rPr>
              <a:t>real-time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low-cost</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predictive</a:t>
            </a:r>
            <a:r>
              <a:rPr kumimoji="0" lang="en-US" altLang="en-US" sz="1800" b="0" i="0" u="none" strike="noStrike" cap="none" normalizeH="0" baseline="0" dirty="0">
                <a:ln>
                  <a:noFill/>
                </a:ln>
                <a:solidFill>
                  <a:schemeClr val="tx1"/>
                </a:solidFill>
                <a:effectLst/>
                <a:latin typeface="Arial" panose="020B0604020202020204" pitchFamily="34" charset="0"/>
              </a:rPr>
              <a:t> monitoring using IoT and analytics.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lang="en-IN" spc="-10" dirty="0"/>
              <a:t>Architecture</a:t>
            </a:r>
            <a:endParaRPr spc="-10" dirty="0"/>
          </a:p>
        </p:txBody>
      </p:sp>
      <p:sp>
        <p:nvSpPr>
          <p:cNvPr id="5" name="object 5"/>
          <p:cNvSpPr txBox="1">
            <a:spLocks noGrp="1"/>
          </p:cNvSpPr>
          <p:nvPr>
            <p:ph type="ftr" sz="quarter" idx="5"/>
          </p:nvPr>
        </p:nvSpPr>
        <p:spPr>
          <a:prstGeom prst="rect">
            <a:avLst/>
          </a:prstGeom>
        </p:spPr>
        <p:txBody>
          <a:bodyPr vert="horz" wrap="square" lIns="0" tIns="20955" rIns="0" bIns="0" rtlCol="0">
            <a:spAutoFit/>
          </a:body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6" name="object 6"/>
          <p:cNvSpPr txBox="1">
            <a:spLocks noGrp="1"/>
          </p:cNvSpPr>
          <p:nvPr>
            <p:ph type="sldNum" sz="quarter" idx="7"/>
          </p:nvPr>
        </p:nvSpPr>
        <p:spPr>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5</a:t>
            </a:fld>
            <a:endParaRPr spc="-50" dirty="0"/>
          </a:p>
        </p:txBody>
      </p:sp>
      <p:sp>
        <p:nvSpPr>
          <p:cNvPr id="7" name="TextBox 6">
            <a:extLst>
              <a:ext uri="{FF2B5EF4-FFF2-40B4-BE49-F238E27FC236}">
                <a16:creationId xmlns:a16="http://schemas.microsoft.com/office/drawing/2014/main" id="{54E8BBC0-FC7A-F771-24AB-224071061291}"/>
              </a:ext>
            </a:extLst>
          </p:cNvPr>
          <p:cNvSpPr txBox="1"/>
          <p:nvPr/>
        </p:nvSpPr>
        <p:spPr>
          <a:xfrm>
            <a:off x="845501" y="1600200"/>
            <a:ext cx="10314623" cy="3970318"/>
          </a:xfrm>
          <a:prstGeom prst="rect">
            <a:avLst/>
          </a:prstGeom>
          <a:noFill/>
        </p:spPr>
        <p:txBody>
          <a:bodyPr wrap="square">
            <a:spAutoFit/>
          </a:bodyPr>
          <a:lstStyle/>
          <a:p>
            <a:pPr algn="l">
              <a:buNone/>
            </a:pPr>
            <a:r>
              <a:rPr lang="en-IN" b="1" i="0" dirty="0">
                <a:solidFill>
                  <a:srgbClr val="FFFFFF"/>
                </a:solidFill>
                <a:effectLst/>
                <a:latin typeface="ui-sans-serif"/>
              </a:rPr>
              <a:t>Architecture Overview:</a:t>
            </a:r>
            <a:endParaRPr lang="en-IN" b="0" i="0" dirty="0">
              <a:solidFill>
                <a:srgbClr val="FFFFFF"/>
              </a:solidFill>
              <a:effectLst/>
              <a:latin typeface="ui-sans-serif"/>
            </a:endParaRPr>
          </a:p>
          <a:p>
            <a:pPr algn="l">
              <a:buFont typeface="Arial" panose="020B0604020202020204" pitchFamily="34" charset="0"/>
              <a:buChar char="•"/>
            </a:pPr>
            <a:r>
              <a:rPr lang="en-IN" b="1" i="0" dirty="0">
                <a:solidFill>
                  <a:srgbClr val="FFFFFF"/>
                </a:solidFill>
                <a:effectLst/>
                <a:latin typeface="ui-sans-serif"/>
              </a:rPr>
              <a:t>Sensor Layer:</a:t>
            </a:r>
            <a:r>
              <a:rPr lang="en-IN" b="0" i="0" dirty="0">
                <a:solidFill>
                  <a:srgbClr val="FFFFFF"/>
                </a:solidFill>
                <a:effectLst/>
                <a:latin typeface="ui-sans-serif"/>
              </a:rPr>
              <a:t> IoT sensors deployed across city areas collect air quality data.</a:t>
            </a:r>
          </a:p>
          <a:p>
            <a:r>
              <a:rPr lang="en-IN" b="1" dirty="0"/>
              <a:t>Architecture Overview:</a:t>
            </a:r>
            <a:endParaRPr lang="en-IN" dirty="0"/>
          </a:p>
          <a:p>
            <a:r>
              <a:rPr lang="en-IN" b="1" dirty="0"/>
              <a:t>Sensor Layer:</a:t>
            </a:r>
            <a:r>
              <a:rPr lang="en-IN" dirty="0"/>
              <a:t> IoT sensors deployed across city areas collect air quality data.</a:t>
            </a:r>
          </a:p>
          <a:p>
            <a:r>
              <a:rPr lang="en-IN" b="1" dirty="0"/>
              <a:t>Data Transmission Layer:</a:t>
            </a:r>
            <a:r>
              <a:rPr lang="en-IN" dirty="0"/>
              <a:t> Data is sent via Wi-Fi/LoRa/4G to a cloud server.</a:t>
            </a:r>
          </a:p>
          <a:p>
            <a:r>
              <a:rPr lang="en-IN" b="1" dirty="0"/>
              <a:t>Cloud Processing Layer:</a:t>
            </a:r>
            <a:r>
              <a:rPr lang="en-IN" dirty="0"/>
              <a:t> Data stored and processed in cloud platforms (e.g., Azure, AWS, or </a:t>
            </a:r>
            <a:r>
              <a:rPr lang="en-IN" dirty="0" err="1"/>
              <a:t>ThingSpeak</a:t>
            </a:r>
            <a:r>
              <a:rPr lang="en-IN" dirty="0"/>
              <a:t>).</a:t>
            </a:r>
          </a:p>
          <a:p>
            <a:r>
              <a:rPr lang="en-IN" b="1" dirty="0"/>
              <a:t>Analytics Layer:</a:t>
            </a:r>
            <a:r>
              <a:rPr lang="en-IN" dirty="0"/>
              <a:t> Machine learning models (SVM, LSTM, or ARIMA) </a:t>
            </a:r>
            <a:r>
              <a:rPr lang="en-IN" dirty="0" err="1"/>
              <a:t>analyze</a:t>
            </a:r>
            <a:r>
              <a:rPr lang="en-IN" dirty="0"/>
              <a:t> and forecast air pollution.</a:t>
            </a:r>
          </a:p>
          <a:p>
            <a:r>
              <a:rPr lang="en-IN" b="1" dirty="0"/>
              <a:t>Application Layer:</a:t>
            </a:r>
            <a:r>
              <a:rPr lang="en-IN" dirty="0"/>
              <a:t> Dashboard visualizes air quality index (AQI) with alerts and trends.</a:t>
            </a:r>
          </a:p>
          <a:p>
            <a:pPr algn="l">
              <a:buFont typeface="Arial" panose="020B0604020202020204" pitchFamily="34" charset="0"/>
              <a:buChar char="•"/>
            </a:pPr>
            <a:endParaRPr lang="en-IN" b="0" i="0" dirty="0">
              <a:solidFill>
                <a:srgbClr val="FFFFFF"/>
              </a:solidFill>
              <a:effectLst/>
              <a:latin typeface="ui-sans-serif"/>
            </a:endParaRPr>
          </a:p>
          <a:p>
            <a:pPr algn="l">
              <a:buFont typeface="Arial" panose="020B0604020202020204" pitchFamily="34" charset="0"/>
              <a:buChar char="•"/>
            </a:pPr>
            <a:r>
              <a:rPr lang="en-IN" b="1" i="0" dirty="0">
                <a:solidFill>
                  <a:srgbClr val="FFFFFF"/>
                </a:solidFill>
                <a:effectLst/>
                <a:latin typeface="ui-sans-serif"/>
              </a:rPr>
              <a:t>Cloud Processing Layer:</a:t>
            </a:r>
            <a:r>
              <a:rPr lang="en-IN" b="0" i="0" dirty="0">
                <a:solidFill>
                  <a:srgbClr val="FFFFFF"/>
                </a:solidFill>
                <a:effectLst/>
                <a:latin typeface="ui-sans-serif"/>
              </a:rPr>
              <a:t> Data stored and processed in cloud platforms (e.g., Azure, AWS, or </a:t>
            </a:r>
            <a:r>
              <a:rPr lang="en-IN" b="0" i="0" dirty="0" err="1">
                <a:solidFill>
                  <a:srgbClr val="FFFFFF"/>
                </a:solidFill>
                <a:effectLst/>
                <a:latin typeface="ui-sans-serif"/>
              </a:rPr>
              <a:t>ThingSpeak</a:t>
            </a:r>
            <a:r>
              <a:rPr lang="en-IN" b="0" i="0" dirty="0">
                <a:solidFill>
                  <a:srgbClr val="FFFFFF"/>
                </a:solidFill>
                <a:effectLst/>
                <a:latin typeface="ui-sans-serif"/>
              </a:rPr>
              <a:t>).</a:t>
            </a:r>
          </a:p>
          <a:p>
            <a:pPr algn="l">
              <a:buFont typeface="Arial" panose="020B0604020202020204" pitchFamily="34" charset="0"/>
              <a:buChar char="•"/>
            </a:pPr>
            <a:r>
              <a:rPr lang="en-IN" b="1" i="0" dirty="0">
                <a:solidFill>
                  <a:srgbClr val="FFFFFF"/>
                </a:solidFill>
                <a:effectLst/>
                <a:latin typeface="ui-sans-serif"/>
              </a:rPr>
              <a:t>Analytics Layer:</a:t>
            </a:r>
            <a:r>
              <a:rPr lang="en-IN" b="0" i="0" dirty="0">
                <a:solidFill>
                  <a:srgbClr val="FFFFFF"/>
                </a:solidFill>
                <a:effectLst/>
                <a:latin typeface="ui-sans-serif"/>
              </a:rPr>
              <a:t> Machine learning models (SVM, LSTM, or ARIMA) </a:t>
            </a:r>
            <a:r>
              <a:rPr lang="en-IN" b="0" i="0" dirty="0" err="1">
                <a:solidFill>
                  <a:srgbClr val="FFFFFF"/>
                </a:solidFill>
                <a:effectLst/>
                <a:latin typeface="ui-sans-serif"/>
              </a:rPr>
              <a:t>analyze</a:t>
            </a:r>
            <a:r>
              <a:rPr lang="en-IN" b="0" i="0" dirty="0">
                <a:solidFill>
                  <a:srgbClr val="FFFFFF"/>
                </a:solidFill>
                <a:effectLst/>
                <a:latin typeface="ui-sans-serif"/>
              </a:rPr>
              <a:t> and forecast air pollution.</a:t>
            </a:r>
          </a:p>
          <a:p>
            <a:pPr algn="l">
              <a:buFont typeface="Arial" panose="020B0604020202020204" pitchFamily="34" charset="0"/>
              <a:buChar char="•"/>
            </a:pPr>
            <a:r>
              <a:rPr lang="en-IN" b="1" i="0" dirty="0">
                <a:solidFill>
                  <a:srgbClr val="FFFFFF"/>
                </a:solidFill>
                <a:effectLst/>
                <a:latin typeface="ui-sans-serif"/>
              </a:rPr>
              <a:t>Application Layer:</a:t>
            </a:r>
            <a:r>
              <a:rPr lang="en-IN" b="0" i="0" dirty="0">
                <a:solidFill>
                  <a:srgbClr val="FFFFFF"/>
                </a:solidFill>
                <a:effectLst/>
                <a:latin typeface="ui-sans-serif"/>
              </a:rPr>
              <a:t> Dashboard visualizes air quality index (AQI) with alerts and trends.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45CCC-9FDE-CC54-1311-ACE6AAB22F7A}"/>
              </a:ext>
            </a:extLst>
          </p:cNvPr>
          <p:cNvSpPr>
            <a:spLocks noGrp="1"/>
          </p:cNvSpPr>
          <p:nvPr>
            <p:ph type="title"/>
          </p:nvPr>
        </p:nvSpPr>
        <p:spPr>
          <a:xfrm>
            <a:off x="609600" y="966469"/>
            <a:ext cx="8236267" cy="492443"/>
          </a:xfrm>
        </p:spPr>
        <p:txBody>
          <a:bodyPr/>
          <a:lstStyle/>
          <a:p>
            <a:r>
              <a:rPr lang="en-IN" dirty="0"/>
              <a:t>  Modules</a:t>
            </a:r>
          </a:p>
        </p:txBody>
      </p:sp>
      <p:sp>
        <p:nvSpPr>
          <p:cNvPr id="5" name="Footer Placeholder 4">
            <a:extLst>
              <a:ext uri="{FF2B5EF4-FFF2-40B4-BE49-F238E27FC236}">
                <a16:creationId xmlns:a16="http://schemas.microsoft.com/office/drawing/2014/main" id="{5005F42F-CB3B-AC5D-181A-F9BA2094E68A}"/>
              </a:ext>
            </a:extLst>
          </p:cNvPr>
          <p:cNvSpPr>
            <a:spLocks noGrp="1"/>
          </p:cNvSpPr>
          <p:nvPr>
            <p:ph type="ftr" sz="quarter" idx="5"/>
          </p:nvPr>
        </p:nvSpPr>
        <p:spPr/>
        <p:txBody>
          <a:bodyPr/>
          <a:lstStyle/>
          <a:p>
            <a:pPr marL="1464945" marR="5080" indent="-1452880">
              <a:lnSpc>
                <a:spcPts val="1430"/>
              </a:lnSpc>
              <a:spcBef>
                <a:spcPts val="165"/>
              </a:spcBef>
            </a:pPr>
            <a:r>
              <a:rPr lang="en-US">
                <a:solidFill>
                  <a:srgbClr val="000000"/>
                </a:solidFill>
              </a:rPr>
              <a:t>Department</a:t>
            </a:r>
            <a:r>
              <a:rPr lang="en-US" spc="-20">
                <a:solidFill>
                  <a:srgbClr val="000000"/>
                </a:solidFill>
              </a:rPr>
              <a:t> </a:t>
            </a:r>
            <a:r>
              <a:rPr lang="en-US">
                <a:solidFill>
                  <a:srgbClr val="000000"/>
                </a:solidFill>
              </a:rPr>
              <a:t>of</a:t>
            </a:r>
            <a:r>
              <a:rPr lang="en-US" spc="-40">
                <a:solidFill>
                  <a:srgbClr val="000000"/>
                </a:solidFill>
              </a:rPr>
              <a:t> </a:t>
            </a:r>
            <a:r>
              <a:rPr lang="en-US"/>
              <a:t>Artificial</a:t>
            </a:r>
            <a:r>
              <a:rPr lang="en-US" spc="-25"/>
              <a:t> </a:t>
            </a:r>
            <a:r>
              <a:rPr lang="en-US"/>
              <a:t>Intelligence</a:t>
            </a:r>
            <a:r>
              <a:rPr lang="en-US" spc="-30"/>
              <a:t> </a:t>
            </a:r>
            <a:r>
              <a:rPr lang="en-US"/>
              <a:t>and</a:t>
            </a:r>
            <a:r>
              <a:rPr lang="en-US" spc="-65"/>
              <a:t> </a:t>
            </a:r>
            <a:r>
              <a:rPr lang="en-US" spc="-20"/>
              <a:t>Data </a:t>
            </a:r>
            <a:r>
              <a:rPr lang="en-US" spc="-10"/>
              <a:t>Science</a:t>
            </a:r>
            <a:endParaRPr lang="en-US" spc="-10" dirty="0"/>
          </a:p>
        </p:txBody>
      </p:sp>
      <p:sp>
        <p:nvSpPr>
          <p:cNvPr id="6" name="Slide Number Placeholder 5">
            <a:extLst>
              <a:ext uri="{FF2B5EF4-FFF2-40B4-BE49-F238E27FC236}">
                <a16:creationId xmlns:a16="http://schemas.microsoft.com/office/drawing/2014/main" id="{452D2B28-8D61-1627-2585-942B4B24A3D7}"/>
              </a:ext>
            </a:extLst>
          </p:cNvPr>
          <p:cNvSpPr>
            <a:spLocks noGrp="1"/>
          </p:cNvSpPr>
          <p:nvPr>
            <p:ph type="sldNum" sz="quarter" idx="7"/>
          </p:nvPr>
        </p:nvSpPr>
        <p:spPr/>
        <p:txBody>
          <a:bodyPr/>
          <a:lstStyle/>
          <a:p>
            <a:pPr marL="38100">
              <a:lnSpc>
                <a:spcPct val="100000"/>
              </a:lnSpc>
              <a:spcBef>
                <a:spcPts val="105"/>
              </a:spcBef>
            </a:pPr>
            <a:fld id="{81D60167-4931-47E6-BA6A-407CBD079E47}" type="slidenum">
              <a:rPr lang="en-IN" spc="-50" smtClean="0"/>
              <a:t>6</a:t>
            </a:fld>
            <a:endParaRPr lang="en-IN" spc="-50" dirty="0"/>
          </a:p>
        </p:txBody>
      </p:sp>
      <p:sp>
        <p:nvSpPr>
          <p:cNvPr id="3" name="Rectangle 1">
            <a:extLst>
              <a:ext uri="{FF2B5EF4-FFF2-40B4-BE49-F238E27FC236}">
                <a16:creationId xmlns:a16="http://schemas.microsoft.com/office/drawing/2014/main" id="{9468C78D-3907-AC87-9229-4EB0B73EF9E7}"/>
              </a:ext>
            </a:extLst>
          </p:cNvPr>
          <p:cNvSpPr>
            <a:spLocks noGrp="1" noChangeArrowheads="1"/>
          </p:cNvSpPr>
          <p:nvPr>
            <p:ph type="body" idx="1"/>
          </p:nvPr>
        </p:nvSpPr>
        <p:spPr bwMode="auto">
          <a:xfrm>
            <a:off x="838200" y="2078130"/>
            <a:ext cx="9753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Collection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IoT sensors (MQ135, DHT11, etc.) to collect real-time air quality 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Transmission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Sends sensor data via Wi-Fi (ESP8266) or MQTT protocol to a cloud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Storage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Stores readings in cloud databases for analytics and historical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Analytics &amp; Prediction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Machine learning algorithms (like </a:t>
            </a:r>
            <a:r>
              <a:rPr kumimoji="0" lang="en-US" altLang="en-US" sz="1800" b="1" i="0" u="none" strike="noStrike" cap="none" normalizeH="0" baseline="0" dirty="0">
                <a:ln>
                  <a:noFill/>
                </a:ln>
                <a:solidFill>
                  <a:schemeClr val="tx1"/>
                </a:solidFill>
                <a:effectLst/>
                <a:latin typeface="Arial" panose="020B0604020202020204" pitchFamily="34" charset="0"/>
              </a:rPr>
              <a:t>SVM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LSTM</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ARIMA</a:t>
            </a:r>
            <a:r>
              <a:rPr kumimoji="0" lang="en-US" altLang="en-US" sz="1800" b="0" i="0" u="none" strike="noStrike" cap="none" normalizeH="0" baseline="0" dirty="0">
                <a:ln>
                  <a:noFill/>
                </a:ln>
                <a:solidFill>
                  <a:schemeClr val="tx1"/>
                </a:solidFill>
                <a:effectLst/>
                <a:latin typeface="Arial" panose="020B0604020202020204" pitchFamily="34" charset="0"/>
              </a:rPr>
              <a:t>) analyze data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Predicts pollution levels for upcoming hours/days.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Visualization &amp; Alert Module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dashboard displays AQI with color-coded zones (Good, Moderate, Poor).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Sends alerts when pollution exceeds threshold levels.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342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7004A-DA31-B737-819B-50BAB69F9C1A}"/>
              </a:ext>
            </a:extLst>
          </p:cNvPr>
          <p:cNvSpPr>
            <a:spLocks noGrp="1"/>
          </p:cNvSpPr>
          <p:nvPr>
            <p:ph type="title"/>
          </p:nvPr>
        </p:nvSpPr>
        <p:spPr>
          <a:xfrm>
            <a:off x="914400" y="966469"/>
            <a:ext cx="7931467" cy="492443"/>
          </a:xfrm>
        </p:spPr>
        <p:txBody>
          <a:bodyPr/>
          <a:lstStyle/>
          <a:p>
            <a:r>
              <a:rPr lang="en-IN" dirty="0"/>
              <a:t>Implementation</a:t>
            </a:r>
          </a:p>
        </p:txBody>
      </p:sp>
      <p:sp>
        <p:nvSpPr>
          <p:cNvPr id="5" name="Footer Placeholder 4">
            <a:extLst>
              <a:ext uri="{FF2B5EF4-FFF2-40B4-BE49-F238E27FC236}">
                <a16:creationId xmlns:a16="http://schemas.microsoft.com/office/drawing/2014/main" id="{3BF2CCB2-F98A-26BB-6A16-558B3AA52414}"/>
              </a:ext>
            </a:extLst>
          </p:cNvPr>
          <p:cNvSpPr>
            <a:spLocks noGrp="1"/>
          </p:cNvSpPr>
          <p:nvPr>
            <p:ph type="ftr" sz="quarter" idx="5"/>
          </p:nvPr>
        </p:nvSpPr>
        <p:spPr/>
        <p:txBody>
          <a:bodyPr/>
          <a:lstStyle/>
          <a:p>
            <a:pPr marL="1464945" marR="5080" indent="-1452880">
              <a:lnSpc>
                <a:spcPts val="1430"/>
              </a:lnSpc>
              <a:spcBef>
                <a:spcPts val="165"/>
              </a:spcBef>
            </a:pPr>
            <a:r>
              <a:rPr lang="en-US">
                <a:solidFill>
                  <a:srgbClr val="000000"/>
                </a:solidFill>
              </a:rPr>
              <a:t>Department</a:t>
            </a:r>
            <a:r>
              <a:rPr lang="en-US" spc="-20">
                <a:solidFill>
                  <a:srgbClr val="000000"/>
                </a:solidFill>
              </a:rPr>
              <a:t> </a:t>
            </a:r>
            <a:r>
              <a:rPr lang="en-US">
                <a:solidFill>
                  <a:srgbClr val="000000"/>
                </a:solidFill>
              </a:rPr>
              <a:t>of</a:t>
            </a:r>
            <a:r>
              <a:rPr lang="en-US" spc="-40">
                <a:solidFill>
                  <a:srgbClr val="000000"/>
                </a:solidFill>
              </a:rPr>
              <a:t> </a:t>
            </a:r>
            <a:r>
              <a:rPr lang="en-US"/>
              <a:t>Artificial</a:t>
            </a:r>
            <a:r>
              <a:rPr lang="en-US" spc="-25"/>
              <a:t> </a:t>
            </a:r>
            <a:r>
              <a:rPr lang="en-US"/>
              <a:t>Intelligence</a:t>
            </a:r>
            <a:r>
              <a:rPr lang="en-US" spc="-30"/>
              <a:t> </a:t>
            </a:r>
            <a:r>
              <a:rPr lang="en-US"/>
              <a:t>and</a:t>
            </a:r>
            <a:r>
              <a:rPr lang="en-US" spc="-65"/>
              <a:t> </a:t>
            </a:r>
            <a:r>
              <a:rPr lang="en-US" spc="-20"/>
              <a:t>Data </a:t>
            </a:r>
            <a:r>
              <a:rPr lang="en-US" spc="-10"/>
              <a:t>Science</a:t>
            </a:r>
            <a:endParaRPr lang="en-US" spc="-10" dirty="0"/>
          </a:p>
        </p:txBody>
      </p:sp>
      <p:sp>
        <p:nvSpPr>
          <p:cNvPr id="6" name="Slide Number Placeholder 5">
            <a:extLst>
              <a:ext uri="{FF2B5EF4-FFF2-40B4-BE49-F238E27FC236}">
                <a16:creationId xmlns:a16="http://schemas.microsoft.com/office/drawing/2014/main" id="{2BAFE5E1-8402-85EC-3164-A7E8A8AD719A}"/>
              </a:ext>
            </a:extLst>
          </p:cNvPr>
          <p:cNvSpPr>
            <a:spLocks noGrp="1"/>
          </p:cNvSpPr>
          <p:nvPr>
            <p:ph type="sldNum" sz="quarter" idx="7"/>
          </p:nvPr>
        </p:nvSpPr>
        <p:spPr/>
        <p:txBody>
          <a:bodyPr/>
          <a:lstStyle/>
          <a:p>
            <a:pPr marL="38100">
              <a:lnSpc>
                <a:spcPct val="100000"/>
              </a:lnSpc>
              <a:spcBef>
                <a:spcPts val="105"/>
              </a:spcBef>
            </a:pPr>
            <a:fld id="{81D60167-4931-47E6-BA6A-407CBD079E47}" type="slidenum">
              <a:rPr lang="en-IN" spc="-50" smtClean="0"/>
              <a:t>7</a:t>
            </a:fld>
            <a:endParaRPr lang="en-IN" spc="-50" dirty="0"/>
          </a:p>
        </p:txBody>
      </p:sp>
      <p:sp>
        <p:nvSpPr>
          <p:cNvPr id="4" name="Rectangle 1">
            <a:extLst>
              <a:ext uri="{FF2B5EF4-FFF2-40B4-BE49-F238E27FC236}">
                <a16:creationId xmlns:a16="http://schemas.microsoft.com/office/drawing/2014/main" id="{E700741D-C6D0-56CB-82F7-049F6FE88D97}"/>
              </a:ext>
            </a:extLst>
          </p:cNvPr>
          <p:cNvSpPr>
            <a:spLocks noGrp="1" noChangeArrowheads="1"/>
          </p:cNvSpPr>
          <p:nvPr>
            <p:ph type="body" idx="1"/>
          </p:nvPr>
        </p:nvSpPr>
        <p:spPr bwMode="auto">
          <a:xfrm>
            <a:off x="609600" y="2799119"/>
            <a:ext cx="845936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a:t>
            </a:r>
            <a:r>
              <a:rPr kumimoji="0" lang="en-US" altLang="en-US" sz="1800" b="0" i="0" u="none" strike="noStrike" cap="none" normalizeH="0" baseline="0" dirty="0">
                <a:ln>
                  <a:noFill/>
                </a:ln>
                <a:solidFill>
                  <a:schemeClr val="tx1"/>
                </a:solidFill>
                <a:effectLst/>
                <a:latin typeface="Arial" panose="020B0604020202020204" pitchFamily="34" charset="0"/>
              </a:rPr>
              <a:t> Python (Flask API), Node.js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PostgreSQL, MongoDB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Analytics Engine:</a:t>
            </a:r>
            <a:r>
              <a:rPr kumimoji="0" lang="en-US" altLang="en-US" sz="1800" b="0" i="0" u="none" strike="noStrike" cap="none" normalizeH="0" baseline="0" dirty="0">
                <a:ln>
                  <a:noFill/>
                </a:ln>
                <a:solidFill>
                  <a:schemeClr val="tx1"/>
                </a:solidFill>
                <a:effectLst/>
                <a:latin typeface="Arial" panose="020B0604020202020204" pitchFamily="34" charset="0"/>
              </a:rPr>
              <a:t> Apache Spark, Scikit-learn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Deployment:</a:t>
            </a:r>
            <a:r>
              <a:rPr kumimoji="0" lang="en-US" altLang="en-US" sz="1800" b="0" i="0" u="none" strike="noStrike" cap="none" normalizeH="0" baseline="0" dirty="0">
                <a:ln>
                  <a:noFill/>
                </a:ln>
                <a:solidFill>
                  <a:schemeClr val="tx1"/>
                </a:solidFill>
                <a:effectLst/>
                <a:latin typeface="Arial" panose="020B0604020202020204" pitchFamily="34" charset="0"/>
              </a:rPr>
              <a:t> Docker, AWS/Google Cloud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Algorithms: </a:t>
            </a:r>
            <a:r>
              <a:rPr kumimoji="0" lang="en-US" altLang="en-US" sz="1800" i="0" u="none" strike="noStrike" cap="none" normalizeH="0" baseline="0" dirty="0">
                <a:ln>
                  <a:noFill/>
                </a:ln>
                <a:solidFill>
                  <a:schemeClr val="tx1"/>
                </a:solidFill>
                <a:effectLst/>
                <a:latin typeface="Arial" panose="020B0604020202020204" pitchFamily="34" charset="0"/>
              </a:rPr>
              <a:t>LSTM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AQ Prediction:</a:t>
            </a:r>
            <a:r>
              <a:rPr kumimoji="0" lang="en-US" altLang="en-US" sz="1800" b="0" i="0" u="none" strike="noStrike" cap="none" normalizeH="0" baseline="0" dirty="0">
                <a:ln>
                  <a:noFill/>
                </a:ln>
                <a:solidFill>
                  <a:schemeClr val="tx1"/>
                </a:solidFill>
                <a:effectLst/>
                <a:latin typeface="Arial" panose="020B0604020202020204" pitchFamily="34" charset="0"/>
              </a:rPr>
              <a:t> ARIMA / LSTM for time-series forecasting.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Classification:</a:t>
            </a:r>
            <a:r>
              <a:rPr kumimoji="0" lang="en-US" altLang="en-US" sz="1800" b="0" i="0" u="none" strike="noStrike" cap="none" normalizeH="0" baseline="0" dirty="0">
                <a:ln>
                  <a:noFill/>
                </a:ln>
                <a:solidFill>
                  <a:schemeClr val="tx1"/>
                </a:solidFill>
                <a:effectLst/>
                <a:latin typeface="Arial" panose="020B0604020202020204" pitchFamily="34" charset="0"/>
              </a:rPr>
              <a:t> Used to categorize pollution levels (Good, Moderate, Unhealthy)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0899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08830-EE98-E214-71FD-F6E6F7339DEF}"/>
              </a:ext>
            </a:extLst>
          </p:cNvPr>
          <p:cNvSpPr>
            <a:spLocks noGrp="1"/>
          </p:cNvSpPr>
          <p:nvPr>
            <p:ph type="title"/>
          </p:nvPr>
        </p:nvSpPr>
        <p:spPr>
          <a:xfrm>
            <a:off x="845502" y="966469"/>
            <a:ext cx="8000365" cy="492443"/>
          </a:xfrm>
        </p:spPr>
        <p:txBody>
          <a:bodyPr/>
          <a:lstStyle/>
          <a:p>
            <a:r>
              <a:rPr lang="en-IN" dirty="0"/>
              <a:t>Result</a:t>
            </a:r>
          </a:p>
        </p:txBody>
      </p:sp>
      <p:sp>
        <p:nvSpPr>
          <p:cNvPr id="3" name="Text Placeholder 2">
            <a:extLst>
              <a:ext uri="{FF2B5EF4-FFF2-40B4-BE49-F238E27FC236}">
                <a16:creationId xmlns:a16="http://schemas.microsoft.com/office/drawing/2014/main" id="{8AD1FCCF-793A-5376-47B1-A38122E8FCFD}"/>
              </a:ext>
            </a:extLst>
          </p:cNvPr>
          <p:cNvSpPr>
            <a:spLocks noGrp="1"/>
          </p:cNvSpPr>
          <p:nvPr>
            <p:ph type="body" idx="1"/>
          </p:nvPr>
        </p:nvSpPr>
        <p:spPr>
          <a:xfrm>
            <a:off x="592642" y="1676400"/>
            <a:ext cx="10972800" cy="276999"/>
          </a:xfrm>
        </p:spPr>
        <p:txBody>
          <a:bodyPr/>
          <a:lstStyle/>
          <a:p>
            <a:r>
              <a:rPr lang="en-IN" dirty="0"/>
              <a:t>     Dashboard:</a:t>
            </a:r>
          </a:p>
        </p:txBody>
      </p:sp>
      <p:sp>
        <p:nvSpPr>
          <p:cNvPr id="9" name="Footer Placeholder 8">
            <a:extLst>
              <a:ext uri="{FF2B5EF4-FFF2-40B4-BE49-F238E27FC236}">
                <a16:creationId xmlns:a16="http://schemas.microsoft.com/office/drawing/2014/main" id="{90C7337D-7FBB-5D90-BC50-415E8BFD170B}"/>
              </a:ext>
            </a:extLst>
          </p:cNvPr>
          <p:cNvSpPr>
            <a:spLocks noGrp="1"/>
          </p:cNvSpPr>
          <p:nvPr>
            <p:ph type="ftr" sz="quarter" idx="5"/>
          </p:nvPr>
        </p:nvSpPr>
        <p:spPr/>
        <p:txBody>
          <a:bodyPr/>
          <a:lstStyle/>
          <a:p>
            <a:pPr marL="1464945" marR="5080" indent="-1452880">
              <a:lnSpc>
                <a:spcPts val="1430"/>
              </a:lnSpc>
              <a:spcBef>
                <a:spcPts val="165"/>
              </a:spcBef>
            </a:pPr>
            <a:r>
              <a:rPr lang="en-US">
                <a:solidFill>
                  <a:srgbClr val="000000"/>
                </a:solidFill>
              </a:rPr>
              <a:t>Department</a:t>
            </a:r>
            <a:r>
              <a:rPr lang="en-US" spc="-20">
                <a:solidFill>
                  <a:srgbClr val="000000"/>
                </a:solidFill>
              </a:rPr>
              <a:t> </a:t>
            </a:r>
            <a:r>
              <a:rPr lang="en-US">
                <a:solidFill>
                  <a:srgbClr val="000000"/>
                </a:solidFill>
              </a:rPr>
              <a:t>of</a:t>
            </a:r>
            <a:r>
              <a:rPr lang="en-US" spc="-40">
                <a:solidFill>
                  <a:srgbClr val="000000"/>
                </a:solidFill>
              </a:rPr>
              <a:t> </a:t>
            </a:r>
            <a:r>
              <a:rPr lang="en-US"/>
              <a:t>Artificial</a:t>
            </a:r>
            <a:r>
              <a:rPr lang="en-US" spc="-25"/>
              <a:t> </a:t>
            </a:r>
            <a:r>
              <a:rPr lang="en-US"/>
              <a:t>Intelligence</a:t>
            </a:r>
            <a:r>
              <a:rPr lang="en-US" spc="-30"/>
              <a:t> </a:t>
            </a:r>
            <a:r>
              <a:rPr lang="en-US"/>
              <a:t>and</a:t>
            </a:r>
            <a:r>
              <a:rPr lang="en-US" spc="-65"/>
              <a:t> </a:t>
            </a:r>
            <a:r>
              <a:rPr lang="en-US" spc="-20"/>
              <a:t>Data </a:t>
            </a:r>
            <a:r>
              <a:rPr lang="en-US" spc="-10"/>
              <a:t>Science</a:t>
            </a:r>
            <a:endParaRPr lang="en-US" spc="-10" dirty="0"/>
          </a:p>
        </p:txBody>
      </p:sp>
      <p:sp>
        <p:nvSpPr>
          <p:cNvPr id="10" name="Slide Number Placeholder 9">
            <a:extLst>
              <a:ext uri="{FF2B5EF4-FFF2-40B4-BE49-F238E27FC236}">
                <a16:creationId xmlns:a16="http://schemas.microsoft.com/office/drawing/2014/main" id="{90309355-76BF-1430-8768-C722FC4596ED}"/>
              </a:ext>
            </a:extLst>
          </p:cNvPr>
          <p:cNvSpPr>
            <a:spLocks noGrp="1"/>
          </p:cNvSpPr>
          <p:nvPr>
            <p:ph type="sldNum" sz="quarter" idx="7"/>
          </p:nvPr>
        </p:nvSpPr>
        <p:spPr/>
        <p:txBody>
          <a:bodyPr/>
          <a:lstStyle/>
          <a:p>
            <a:pPr marL="38100">
              <a:lnSpc>
                <a:spcPct val="100000"/>
              </a:lnSpc>
              <a:spcBef>
                <a:spcPts val="105"/>
              </a:spcBef>
            </a:pPr>
            <a:fld id="{81D60167-4931-47E6-BA6A-407CBD079E47}" type="slidenum">
              <a:rPr lang="en-IN" spc="-50" smtClean="0"/>
              <a:t>8</a:t>
            </a:fld>
            <a:endParaRPr lang="en-IN" spc="-50" dirty="0"/>
          </a:p>
        </p:txBody>
      </p:sp>
      <p:pic>
        <p:nvPicPr>
          <p:cNvPr id="11" name="Picture 10">
            <a:extLst>
              <a:ext uri="{FF2B5EF4-FFF2-40B4-BE49-F238E27FC236}">
                <a16:creationId xmlns:a16="http://schemas.microsoft.com/office/drawing/2014/main" id="{DDA86290-DD7A-A01C-1C18-D4AEEEF93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1134" y="1953399"/>
            <a:ext cx="3568224" cy="3976490"/>
          </a:xfrm>
          <a:prstGeom prst="rect">
            <a:avLst/>
          </a:prstGeom>
        </p:spPr>
      </p:pic>
      <p:pic>
        <p:nvPicPr>
          <p:cNvPr id="15" name="Picture 14">
            <a:extLst>
              <a:ext uri="{FF2B5EF4-FFF2-40B4-BE49-F238E27FC236}">
                <a16:creationId xmlns:a16="http://schemas.microsoft.com/office/drawing/2014/main" id="{F17E5A48-C21A-EA89-B773-24FAFE35D5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1" y="1953399"/>
            <a:ext cx="4144934" cy="3981062"/>
          </a:xfrm>
          <a:prstGeom prst="rect">
            <a:avLst/>
          </a:prstGeom>
        </p:spPr>
      </p:pic>
      <p:pic>
        <p:nvPicPr>
          <p:cNvPr id="19" name="Picture 18">
            <a:extLst>
              <a:ext uri="{FF2B5EF4-FFF2-40B4-BE49-F238E27FC236}">
                <a16:creationId xmlns:a16="http://schemas.microsoft.com/office/drawing/2014/main" id="{2BE89E67-CB43-A941-2F58-A2470ED7EF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132" y="2230397"/>
            <a:ext cx="3212069" cy="3332203"/>
          </a:xfrm>
          <a:prstGeom prst="rect">
            <a:avLst/>
          </a:prstGeom>
        </p:spPr>
      </p:pic>
    </p:spTree>
    <p:extLst>
      <p:ext uri="{BB962C8B-B14F-4D97-AF65-F5344CB8AC3E}">
        <p14:creationId xmlns:p14="http://schemas.microsoft.com/office/powerpoint/2010/main" val="825522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522A0-B600-DBDC-B60E-122DFA2C4B6F}"/>
              </a:ext>
            </a:extLst>
          </p:cNvPr>
          <p:cNvSpPr>
            <a:spLocks noGrp="1"/>
          </p:cNvSpPr>
          <p:nvPr>
            <p:ph type="title"/>
          </p:nvPr>
        </p:nvSpPr>
        <p:spPr>
          <a:xfrm>
            <a:off x="845502" y="966469"/>
            <a:ext cx="8000365" cy="492443"/>
          </a:xfrm>
        </p:spPr>
        <p:txBody>
          <a:bodyPr/>
          <a:lstStyle/>
          <a:p>
            <a:r>
              <a:rPr lang="en-IN" dirty="0"/>
              <a:t>Conclusion</a:t>
            </a:r>
          </a:p>
        </p:txBody>
      </p:sp>
      <p:sp>
        <p:nvSpPr>
          <p:cNvPr id="6" name="Footer Placeholder 5">
            <a:extLst>
              <a:ext uri="{FF2B5EF4-FFF2-40B4-BE49-F238E27FC236}">
                <a16:creationId xmlns:a16="http://schemas.microsoft.com/office/drawing/2014/main" id="{B19949B4-4763-1E67-D34E-D38E7C3BE698}"/>
              </a:ext>
            </a:extLst>
          </p:cNvPr>
          <p:cNvSpPr>
            <a:spLocks noGrp="1"/>
          </p:cNvSpPr>
          <p:nvPr>
            <p:ph type="ftr" sz="quarter" idx="5"/>
          </p:nvPr>
        </p:nvSpPr>
        <p:spPr/>
        <p:txBody>
          <a:bodyPr/>
          <a:lstStyle/>
          <a:p>
            <a:pPr marL="1464945" marR="5080" indent="-1452880">
              <a:lnSpc>
                <a:spcPts val="1430"/>
              </a:lnSpc>
              <a:spcBef>
                <a:spcPts val="165"/>
              </a:spcBef>
            </a:pPr>
            <a:r>
              <a:rPr lang="en-US">
                <a:solidFill>
                  <a:srgbClr val="000000"/>
                </a:solidFill>
              </a:rPr>
              <a:t>Department</a:t>
            </a:r>
            <a:r>
              <a:rPr lang="en-US" spc="-20">
                <a:solidFill>
                  <a:srgbClr val="000000"/>
                </a:solidFill>
              </a:rPr>
              <a:t> </a:t>
            </a:r>
            <a:r>
              <a:rPr lang="en-US">
                <a:solidFill>
                  <a:srgbClr val="000000"/>
                </a:solidFill>
              </a:rPr>
              <a:t>of</a:t>
            </a:r>
            <a:r>
              <a:rPr lang="en-US" spc="-40">
                <a:solidFill>
                  <a:srgbClr val="000000"/>
                </a:solidFill>
              </a:rPr>
              <a:t> </a:t>
            </a:r>
            <a:r>
              <a:rPr lang="en-US"/>
              <a:t>Artificial</a:t>
            </a:r>
            <a:r>
              <a:rPr lang="en-US" spc="-25"/>
              <a:t> </a:t>
            </a:r>
            <a:r>
              <a:rPr lang="en-US"/>
              <a:t>Intelligence</a:t>
            </a:r>
            <a:r>
              <a:rPr lang="en-US" spc="-30"/>
              <a:t> </a:t>
            </a:r>
            <a:r>
              <a:rPr lang="en-US"/>
              <a:t>and</a:t>
            </a:r>
            <a:r>
              <a:rPr lang="en-US" spc="-65"/>
              <a:t> </a:t>
            </a:r>
            <a:r>
              <a:rPr lang="en-US" spc="-20"/>
              <a:t>Data </a:t>
            </a:r>
            <a:r>
              <a:rPr lang="en-US" spc="-10"/>
              <a:t>Science</a:t>
            </a:r>
            <a:endParaRPr lang="en-US" spc="-10" dirty="0"/>
          </a:p>
        </p:txBody>
      </p:sp>
      <p:sp>
        <p:nvSpPr>
          <p:cNvPr id="7" name="Slide Number Placeholder 6">
            <a:extLst>
              <a:ext uri="{FF2B5EF4-FFF2-40B4-BE49-F238E27FC236}">
                <a16:creationId xmlns:a16="http://schemas.microsoft.com/office/drawing/2014/main" id="{34C50C52-7769-8AEE-6804-9EF3E15915F0}"/>
              </a:ext>
            </a:extLst>
          </p:cNvPr>
          <p:cNvSpPr>
            <a:spLocks noGrp="1"/>
          </p:cNvSpPr>
          <p:nvPr>
            <p:ph type="sldNum" sz="quarter" idx="7"/>
          </p:nvPr>
        </p:nvSpPr>
        <p:spPr/>
        <p:txBody>
          <a:bodyPr/>
          <a:lstStyle/>
          <a:p>
            <a:pPr marL="38100">
              <a:lnSpc>
                <a:spcPct val="100000"/>
              </a:lnSpc>
              <a:spcBef>
                <a:spcPts val="105"/>
              </a:spcBef>
            </a:pPr>
            <a:fld id="{81D60167-4931-47E6-BA6A-407CBD079E47}" type="slidenum">
              <a:rPr lang="en-IN" spc="-50" smtClean="0"/>
              <a:t>9</a:t>
            </a:fld>
            <a:endParaRPr lang="en-IN" spc="-50" dirty="0"/>
          </a:p>
        </p:txBody>
      </p:sp>
      <p:sp>
        <p:nvSpPr>
          <p:cNvPr id="8" name="Rectangle 2">
            <a:extLst>
              <a:ext uri="{FF2B5EF4-FFF2-40B4-BE49-F238E27FC236}">
                <a16:creationId xmlns:a16="http://schemas.microsoft.com/office/drawing/2014/main" id="{DDF4976E-3523-A5DC-A740-163129A57328}"/>
              </a:ext>
            </a:extLst>
          </p:cNvPr>
          <p:cNvSpPr>
            <a:spLocks noGrp="1" noChangeArrowheads="1"/>
          </p:cNvSpPr>
          <p:nvPr>
            <p:ph type="body" idx="1"/>
          </p:nvPr>
        </p:nvSpPr>
        <p:spPr bwMode="auto">
          <a:xfrm>
            <a:off x="845502" y="2286000"/>
            <a:ext cx="10287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spcBef>
                <a:spcPct val="0"/>
              </a:spcBef>
              <a:spcAft>
                <a:spcPct val="0"/>
              </a:spcAft>
              <a:buFontTx/>
              <a:buChar char="•"/>
            </a:pPr>
            <a:r>
              <a:rPr lang="en-US" dirty="0"/>
              <a:t>In conclusion, this project has successfully demonstrated the feasibility and immense value of an integrated </a:t>
            </a:r>
            <a:r>
              <a:rPr lang="en-US" b="1" dirty="0"/>
              <a:t>Smart City Analysis platform</a:t>
            </a:r>
            <a:r>
              <a:rPr lang="en-US" dirty="0"/>
              <a:t>. By breaking down the traditional "data silos" that isolate urban information, we have created a unified system that provides a holistic, real-time view of city operations. Our work moves beyond mere data collection; it transforms raw data from traffic, waste management, and air quality sensors into </a:t>
            </a:r>
            <a:r>
              <a:rPr lang="en-US" b="1" dirty="0"/>
              <a:t>actionable intelligence</a:t>
            </a:r>
            <a:r>
              <a:rPr lang="en-US" dirty="0"/>
              <a:t>. The predictive models for traffic congestion and the optimized routes for waste collection are tangible examples of how this intelligence can lead to significant gains in efficiency, resource conservation, and sustainability. This platform serves as a powerful blueprint, proving that a data-driven approach is no longer a futuristic concept but a practical tool for building more responsive, resilient, and livable urban environments for citizens.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9388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102E5-7760-F616-23BE-C4185ED6492D}"/>
              </a:ext>
            </a:extLst>
          </p:cNvPr>
          <p:cNvSpPr>
            <a:spLocks noGrp="1"/>
          </p:cNvSpPr>
          <p:nvPr>
            <p:ph type="title"/>
          </p:nvPr>
        </p:nvSpPr>
        <p:spPr>
          <a:xfrm>
            <a:off x="838200" y="925952"/>
            <a:ext cx="8000365" cy="492443"/>
          </a:xfrm>
        </p:spPr>
        <p:txBody>
          <a:bodyPr/>
          <a:lstStyle/>
          <a:p>
            <a:r>
              <a:rPr lang="en-IN" dirty="0"/>
              <a:t>Future References</a:t>
            </a:r>
          </a:p>
        </p:txBody>
      </p:sp>
      <p:sp>
        <p:nvSpPr>
          <p:cNvPr id="6" name="Footer Placeholder 5">
            <a:extLst>
              <a:ext uri="{FF2B5EF4-FFF2-40B4-BE49-F238E27FC236}">
                <a16:creationId xmlns:a16="http://schemas.microsoft.com/office/drawing/2014/main" id="{4E0EE9D4-50B9-F3DE-6E8C-B089C88D3646}"/>
              </a:ext>
            </a:extLst>
          </p:cNvPr>
          <p:cNvSpPr>
            <a:spLocks noGrp="1"/>
          </p:cNvSpPr>
          <p:nvPr>
            <p:ph type="ftr" sz="quarter" idx="5"/>
          </p:nvPr>
        </p:nvSpPr>
        <p:spPr/>
        <p:txBody>
          <a:bodyPr/>
          <a:lstStyle/>
          <a:p>
            <a:pPr marL="1464945" marR="5080" indent="-1452880">
              <a:lnSpc>
                <a:spcPts val="1430"/>
              </a:lnSpc>
              <a:spcBef>
                <a:spcPts val="165"/>
              </a:spcBef>
            </a:pPr>
            <a:r>
              <a:rPr lang="en-US">
                <a:solidFill>
                  <a:srgbClr val="000000"/>
                </a:solidFill>
              </a:rPr>
              <a:t>Department</a:t>
            </a:r>
            <a:r>
              <a:rPr lang="en-US" spc="-20">
                <a:solidFill>
                  <a:srgbClr val="000000"/>
                </a:solidFill>
              </a:rPr>
              <a:t> </a:t>
            </a:r>
            <a:r>
              <a:rPr lang="en-US">
                <a:solidFill>
                  <a:srgbClr val="000000"/>
                </a:solidFill>
              </a:rPr>
              <a:t>of</a:t>
            </a:r>
            <a:r>
              <a:rPr lang="en-US" spc="-40">
                <a:solidFill>
                  <a:srgbClr val="000000"/>
                </a:solidFill>
              </a:rPr>
              <a:t> </a:t>
            </a:r>
            <a:r>
              <a:rPr lang="en-US"/>
              <a:t>Artificial</a:t>
            </a:r>
            <a:r>
              <a:rPr lang="en-US" spc="-25"/>
              <a:t> </a:t>
            </a:r>
            <a:r>
              <a:rPr lang="en-US"/>
              <a:t>Intelligence</a:t>
            </a:r>
            <a:r>
              <a:rPr lang="en-US" spc="-30"/>
              <a:t> </a:t>
            </a:r>
            <a:r>
              <a:rPr lang="en-US"/>
              <a:t>and</a:t>
            </a:r>
            <a:r>
              <a:rPr lang="en-US" spc="-65"/>
              <a:t> </a:t>
            </a:r>
            <a:r>
              <a:rPr lang="en-US" spc="-20"/>
              <a:t>Data </a:t>
            </a:r>
            <a:r>
              <a:rPr lang="en-US" spc="-10"/>
              <a:t>Science</a:t>
            </a:r>
            <a:endParaRPr lang="en-US" spc="-10" dirty="0"/>
          </a:p>
        </p:txBody>
      </p:sp>
      <p:sp>
        <p:nvSpPr>
          <p:cNvPr id="7" name="Slide Number Placeholder 6">
            <a:extLst>
              <a:ext uri="{FF2B5EF4-FFF2-40B4-BE49-F238E27FC236}">
                <a16:creationId xmlns:a16="http://schemas.microsoft.com/office/drawing/2014/main" id="{987001AF-BE89-B07D-42CF-A8FD31F8604B}"/>
              </a:ext>
            </a:extLst>
          </p:cNvPr>
          <p:cNvSpPr>
            <a:spLocks noGrp="1"/>
          </p:cNvSpPr>
          <p:nvPr>
            <p:ph type="sldNum" sz="quarter" idx="7"/>
          </p:nvPr>
        </p:nvSpPr>
        <p:spPr>
          <a:xfrm>
            <a:off x="11125200" y="6285997"/>
            <a:ext cx="220979" cy="211454"/>
          </a:xfrm>
        </p:spPr>
        <p:txBody>
          <a:bodyPr/>
          <a:lstStyle/>
          <a:p>
            <a:pPr marL="38100">
              <a:lnSpc>
                <a:spcPct val="100000"/>
              </a:lnSpc>
              <a:spcBef>
                <a:spcPts val="105"/>
              </a:spcBef>
            </a:pPr>
            <a:fld id="{81D60167-4931-47E6-BA6A-407CBD079E47}" type="slidenum">
              <a:rPr lang="en-IN" spc="-50" smtClean="0"/>
              <a:t>10</a:t>
            </a:fld>
            <a:endParaRPr lang="en-IN" spc="-50" dirty="0"/>
          </a:p>
        </p:txBody>
      </p:sp>
      <p:sp>
        <p:nvSpPr>
          <p:cNvPr id="11" name="Rectangle 6">
            <a:extLst>
              <a:ext uri="{FF2B5EF4-FFF2-40B4-BE49-F238E27FC236}">
                <a16:creationId xmlns:a16="http://schemas.microsoft.com/office/drawing/2014/main" id="{A8CA885F-FE02-DC08-B40B-55B3D237345B}"/>
              </a:ext>
            </a:extLst>
          </p:cNvPr>
          <p:cNvSpPr>
            <a:spLocks noGrp="1" noChangeArrowheads="1"/>
          </p:cNvSpPr>
          <p:nvPr>
            <p:ph type="body" idx="1"/>
          </p:nvPr>
        </p:nvSpPr>
        <p:spPr bwMode="auto">
          <a:xfrm>
            <a:off x="670158" y="1893915"/>
            <a:ext cx="110109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Expand to New Domains:</a:t>
            </a:r>
            <a:r>
              <a:rPr kumimoji="0" lang="en-US" altLang="en-US" sz="1800" b="0" i="0" u="none" strike="noStrike" cap="none" normalizeH="0" baseline="0" dirty="0">
                <a:ln>
                  <a:noFill/>
                </a:ln>
                <a:solidFill>
                  <a:schemeClr val="tx1"/>
                </a:solidFill>
                <a:effectLst/>
                <a:latin typeface="Arial" panose="020B0604020202020204" pitchFamily="34" charset="0"/>
              </a:rPr>
              <a:t> Integrate modules for smart water management, energy grid monitoring, and public safety (CCTV analytics).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Predictive Maintenance:</a:t>
            </a:r>
            <a:r>
              <a:rPr kumimoji="0" lang="en-US" altLang="en-US" sz="1800" b="0" i="0" u="none" strike="noStrike" cap="none" normalizeH="0" baseline="0" dirty="0">
                <a:ln>
                  <a:noFill/>
                </a:ln>
                <a:solidFill>
                  <a:schemeClr val="tx1"/>
                </a:solidFill>
                <a:effectLst/>
                <a:latin typeface="Arial" panose="020B0604020202020204" pitchFamily="34" charset="0"/>
              </a:rPr>
              <a:t> Use sensor data to predict when city infrastructure (e.g., streetlights, water pumps) will need maintenance.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Citizen Engagement App:</a:t>
            </a:r>
            <a:r>
              <a:rPr kumimoji="0" lang="en-US" altLang="en-US" sz="1800" b="0" i="0" u="none" strike="noStrike" cap="none" normalizeH="0" baseline="0" dirty="0">
                <a:ln>
                  <a:noFill/>
                </a:ln>
                <a:solidFill>
                  <a:schemeClr val="tx1"/>
                </a:solidFill>
                <a:effectLst/>
                <a:latin typeface="Arial" panose="020B0604020202020204" pitchFamily="34" charset="0"/>
              </a:rPr>
              <a:t> Develop a mobile app for citizens to report issues (e.g., potholes) and receive personalized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&amp; Deeper Learning:</a:t>
            </a:r>
            <a:r>
              <a:rPr kumimoji="0" lang="en-US" altLang="en-US" sz="1800" b="0" i="0" u="none" strike="noStrike" cap="none" normalizeH="0" baseline="0" dirty="0">
                <a:ln>
                  <a:noFill/>
                </a:ln>
                <a:solidFill>
                  <a:schemeClr val="tx1"/>
                </a:solidFill>
                <a:effectLst/>
                <a:latin typeface="Arial" panose="020B0604020202020204" pitchFamily="34" charset="0"/>
              </a:rPr>
              <a:t> Implement more advanced AI models for complex tasks like autonomous traffic control and city-wide event simulation.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F0494D28-7B28-60F8-68BC-982918438C0B}"/>
              </a:ext>
            </a:extLst>
          </p:cNvPr>
          <p:cNvSpPr>
            <a:spLocks noChangeArrowheads="1"/>
          </p:cNvSpPr>
          <p:nvPr/>
        </p:nvSpPr>
        <p:spPr bwMode="auto">
          <a:xfrm>
            <a:off x="670158" y="4252437"/>
            <a:ext cx="1220403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Application:</a:t>
            </a:r>
            <a:r>
              <a:rPr kumimoji="0" lang="en-US" altLang="en-US" sz="1800" b="0" i="0" u="none" strike="noStrike" cap="none" normalizeH="0" baseline="0" dirty="0">
                <a:ln>
                  <a:noFill/>
                </a:ln>
                <a:solidFill>
                  <a:schemeClr val="tx1"/>
                </a:solidFill>
                <a:effectLst/>
                <a:latin typeface="Arial" panose="020B0604020202020204" pitchFamily="34" charset="0"/>
              </a:rPr>
              <a:t> Predict urban flooding zones during heavy rains (especially relevant for cities like </a:t>
            </a:r>
            <a:r>
              <a:rPr kumimoji="0" lang="en-US" altLang="en-US" sz="1800" b="1" i="0" u="none" strike="noStrike" cap="none" normalizeH="0" baseline="0" dirty="0">
                <a:ln>
                  <a:noFill/>
                </a:ln>
                <a:solidFill>
                  <a:schemeClr val="tx1"/>
                </a:solidFill>
                <a:effectLst/>
                <a:latin typeface="Arial" panose="020B0604020202020204" pitchFamily="34" charset="0"/>
              </a:rPr>
              <a:t>Chennai</a:t>
            </a:r>
            <a:r>
              <a:rPr kumimoji="0" lang="en-US" altLang="en-US" sz="1800" b="0" i="0" u="none" strike="noStrike" cap="none" normalizeH="0" baseline="0" dirty="0">
                <a:ln>
                  <a:noFill/>
                </a:ln>
                <a:solidFill>
                  <a:schemeClr val="tx1"/>
                </a:solidFill>
                <a:effectLst/>
                <a:latin typeface="Arial" panose="020B0604020202020204" pitchFamily="34" charset="0"/>
              </a:rPr>
              <a:t>) and automatically trigger alerts for residents and manage stormwater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Smart Energy Grid:</a:t>
            </a:r>
            <a:r>
              <a:rPr kumimoji="0" lang="en-US" altLang="en-US" sz="1800" b="0" i="0" u="none" strike="noStrike" cap="none" normalizeH="0" baseline="0" dirty="0">
                <a:ln>
                  <a:noFill/>
                </a:ln>
                <a:solidFill>
                  <a:schemeClr val="tx1"/>
                </a:solidFill>
                <a:effectLst/>
                <a:latin typeface="Arial" panose="020B0604020202020204" pitchFamily="34" charset="0"/>
              </a:rPr>
              <a:t> Integrate data from smart meters to analyze and manage energy consumption across the 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Goal:</a:t>
            </a:r>
            <a:r>
              <a:rPr kumimoji="0" lang="en-US" altLang="en-US" sz="1800" b="0" i="0" u="none" strike="noStrike" cap="none" normalizeH="0" baseline="0" dirty="0">
                <a:ln>
                  <a:noFill/>
                </a:ln>
                <a:solidFill>
                  <a:schemeClr val="tx1"/>
                </a:solidFill>
                <a:effectLst/>
                <a:latin typeface="Arial" panose="020B0604020202020204" pitchFamily="34" charset="0"/>
              </a:rPr>
              <a:t> Promote renewable energy usage by balancing power loads, predicting demand spikes, and preventing outages.</a:t>
            </a:r>
          </a:p>
        </p:txBody>
      </p:sp>
    </p:spTree>
    <p:extLst>
      <p:ext uri="{BB962C8B-B14F-4D97-AF65-F5344CB8AC3E}">
        <p14:creationId xmlns:p14="http://schemas.microsoft.com/office/powerpoint/2010/main" val="1175036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30978" y="3463671"/>
            <a:ext cx="3034665" cy="632460"/>
          </a:xfrm>
          <a:prstGeom prst="rect">
            <a:avLst/>
          </a:prstGeom>
        </p:spPr>
        <p:txBody>
          <a:bodyPr vert="horz" wrap="square" lIns="0" tIns="16510" rIns="0" bIns="0" rtlCol="0">
            <a:spAutoFit/>
          </a:bodyPr>
          <a:lstStyle/>
          <a:p>
            <a:pPr marL="12700">
              <a:lnSpc>
                <a:spcPct val="100000"/>
              </a:lnSpc>
              <a:spcBef>
                <a:spcPts val="130"/>
              </a:spcBef>
            </a:pPr>
            <a:r>
              <a:rPr sz="3950" dirty="0"/>
              <a:t>Thank</a:t>
            </a:r>
            <a:r>
              <a:rPr sz="3950" spc="90" dirty="0"/>
              <a:t> </a:t>
            </a:r>
            <a:r>
              <a:rPr sz="3950" spc="-25" dirty="0"/>
              <a:t>You</a:t>
            </a:r>
            <a:endParaRPr sz="3950"/>
          </a:p>
        </p:txBody>
      </p:sp>
      <p:sp>
        <p:nvSpPr>
          <p:cNvPr id="4" name="object 4"/>
          <p:cNvSpPr txBox="1">
            <a:spLocks noGrp="1"/>
          </p:cNvSpPr>
          <p:nvPr>
            <p:ph type="ftr" sz="quarter" idx="5"/>
          </p:nvPr>
        </p:nvSpPr>
        <p:spPr>
          <a:prstGeom prst="rect">
            <a:avLst/>
          </a:prstGeom>
        </p:spPr>
        <p:txBody>
          <a:bodyPr vert="horz" wrap="square" lIns="0" tIns="20955" rIns="0" bIns="0" rtlCol="0">
            <a:spAutoFit/>
          </a:bodyPr>
          <a:lstStyle/>
          <a:p>
            <a:pPr marL="1464945" marR="5080" indent="-1452880">
              <a:lnSpc>
                <a:spcPts val="1430"/>
              </a:lnSpc>
              <a:spcBef>
                <a:spcPts val="165"/>
              </a:spcBef>
            </a:pPr>
            <a:r>
              <a:rPr dirty="0">
                <a:solidFill>
                  <a:srgbClr val="000000"/>
                </a:solidFill>
              </a:rPr>
              <a:t>Department</a:t>
            </a:r>
            <a:r>
              <a:rPr spc="-20" dirty="0">
                <a:solidFill>
                  <a:srgbClr val="000000"/>
                </a:solidFill>
              </a:rPr>
              <a:t> </a:t>
            </a:r>
            <a:r>
              <a:rPr dirty="0">
                <a:solidFill>
                  <a:srgbClr val="000000"/>
                </a:solidFill>
              </a:rPr>
              <a:t>of</a:t>
            </a:r>
            <a:r>
              <a:rPr spc="-40" dirty="0">
                <a:solidFill>
                  <a:srgbClr val="000000"/>
                </a:solidFill>
              </a:rPr>
              <a:t> </a:t>
            </a:r>
            <a:r>
              <a:rPr dirty="0"/>
              <a:t>Artificial</a:t>
            </a:r>
            <a:r>
              <a:rPr spc="-25" dirty="0"/>
              <a:t> </a:t>
            </a:r>
            <a:r>
              <a:rPr dirty="0"/>
              <a:t>Intelligence</a:t>
            </a:r>
            <a:r>
              <a:rPr spc="-30" dirty="0"/>
              <a:t> </a:t>
            </a:r>
            <a:r>
              <a:rPr dirty="0"/>
              <a:t>and</a:t>
            </a:r>
            <a:r>
              <a:rPr spc="-65" dirty="0"/>
              <a:t> </a:t>
            </a:r>
            <a:r>
              <a:rPr spc="-20" dirty="0"/>
              <a:t>Data </a:t>
            </a:r>
            <a:r>
              <a:rPr spc="-10" dirty="0"/>
              <a:t>Science</a:t>
            </a:r>
          </a:p>
        </p:txBody>
      </p:sp>
      <p:sp>
        <p:nvSpPr>
          <p:cNvPr id="5" name="object 5"/>
          <p:cNvSpPr txBox="1">
            <a:spLocks noGrp="1"/>
          </p:cNvSpPr>
          <p:nvPr>
            <p:ph type="sldNum" sz="quarter" idx="7"/>
          </p:nvPr>
        </p:nvSpPr>
        <p:spPr>
          <a:xfrm>
            <a:off x="11125200" y="6285997"/>
            <a:ext cx="220979" cy="198131"/>
          </a:xfrm>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50" dirty="0"/>
              <a:t>11</a:t>
            </a:fld>
            <a:endParaRPr spc="-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TotalTime>
  <Words>1065</Words>
  <Application>Microsoft Office PowerPoint</Application>
  <PresentationFormat>Widescreen</PresentationFormat>
  <Paragraphs>107</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Times New Roman</vt:lpstr>
      <vt:lpstr>ui-sans-serif</vt:lpstr>
      <vt:lpstr>Verdana</vt:lpstr>
      <vt:lpstr>Office Theme</vt:lpstr>
      <vt:lpstr>Department of Artificial Intelligence and Data Science</vt:lpstr>
      <vt:lpstr>Introduction</vt:lpstr>
      <vt:lpstr>Abstract</vt:lpstr>
      <vt:lpstr>Literature Survey</vt:lpstr>
      <vt:lpstr>Architecture</vt:lpstr>
      <vt:lpstr>  Modules</vt:lpstr>
      <vt:lpstr>Implementation</vt:lpstr>
      <vt:lpstr>Result</vt:lpstr>
      <vt:lpstr>Conclusion</vt:lpstr>
      <vt:lpstr>Future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thavatharani2005@outlook.com</cp:lastModifiedBy>
  <cp:revision>8</cp:revision>
  <dcterms:created xsi:type="dcterms:W3CDTF">2025-10-15T16:15:50Z</dcterms:created>
  <dcterms:modified xsi:type="dcterms:W3CDTF">2025-10-30T03:40:37Z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2025-10-09T00:00:00Z</vt:filetime>
  </property>
  <property fmtid="{D5CDD505-2E9C-101B-9397-08002B2CF9AE}" pid="3" name="LastSaved">
    <vt:filetime>2025-10-15T00:00:00Z</vt:filetime>
  </property>
</Properties>
</file>